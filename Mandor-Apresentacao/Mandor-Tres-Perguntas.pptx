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DE APOIO PARA O APRESENTADOR</a:t>
            </a:r>
          </a:p>
          <a:p>
            <a:r>
              <a:t>Abra sem slides na cabeça. Diga que não veio apresentar nada, veio propor uma conversa. Ao longo dos anos, conversando com casas em estagios diferentes, você percebeu que tres perguntas aparecem em praticamente toda instituição que cresce. Nao porque algo esteja errado, mas porque crescer expoe a estrutura. Convide-os a responder mentalmente, não em voz alta.</a:t>
            </a:r>
          </a:p>
          <a:p/>
          <a:p>
            <a:pPr>
              <a:defRPr b="1"/>
            </a:pPr>
            <a:r>
              <a:t>OBJETIVO PSICOLÓGICO DO SLIDE</a:t>
            </a:r>
          </a:p>
          <a:p>
            <a:r>
              <a:t>Estabelecer paridade entre pares e desarmar a expectativa de pitch. Posicionar você como quem observa o mercado, não como quem vende. Criar a moldura: estas perguntas são legitimas e universais, logo reconhece-las não e admitir falha.</a:t>
            </a:r>
          </a:p>
          <a:p/>
          <a:p>
            <a:pPr>
              <a:defRPr b="1"/>
            </a:pPr>
            <a:r>
              <a:t>SUGESTÃO VISUAL</a:t>
            </a:r>
          </a:p>
          <a:p>
            <a:r>
              <a:t>Fundo espresso, respiro amplo, as tres perguntas em numerais bronze. Sem ícones, sem gráfico.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DE APOIO PARA O APRESENTADOR</a:t>
            </a:r>
          </a:p>
          <a:p>
            <a:r>
              <a:t>Toda casa madura tem nomes que carregam o critério. Isso e força, e também concentração. Pergunte, sem cobrar: o que sai junto com a pessoa? O método esta documentado, ou esta na cabeça de quem decide há vinte anos? Nao ha resposta certa, ha graus. Deixe o silêncio trabalhar.</a:t>
            </a:r>
          </a:p>
          <a:p/>
          <a:p>
            <a:pPr>
              <a:defRPr b="1"/>
            </a:pPr>
            <a:r>
              <a:t>OBJETIVO PSICOLÓGICO DO SLIDE</a:t>
            </a:r>
          </a:p>
          <a:p>
            <a:r>
              <a:t>Ativar a consciência de risco de concentração sem acusar. Fazer o sócio sênior pensar no próprio sucessor. Plantar a ideia de que método e patrimônio da instituição, não rotina.</a:t>
            </a:r>
          </a:p>
          <a:p/>
          <a:p>
            <a:pPr>
              <a:defRPr b="1"/>
            </a:pPr>
            <a:r>
              <a:t>SUGESTÃO VISUAL</a:t>
            </a:r>
          </a:p>
          <a:p>
            <a:r>
              <a:t>Pergunta em marfim ocupando o terço superior. Três subperguntas discretas em bronze. Nenhuma resposta na tela: o vazio e proposital.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DE APOIO PARA O APRESENTADOR</a:t>
            </a:r>
          </a:p>
          <a:p>
            <a:r>
              <a:t>Relacionamento e o ativo mais nobre desse mercado, e o mais dificil de escalar. Pergunte: quanto da originação depende de quem você conhece pessoalmente? Quando um deal chega, o mapa de para quem levá-lo esta na cabeça de alguém ou na instituição? Reconheca o valor do relacionamento antes de questionar o seu limite.</a:t>
            </a:r>
          </a:p>
          <a:p/>
          <a:p>
            <a:pPr>
              <a:defRPr b="1"/>
            </a:pPr>
            <a:r>
              <a:t>OBJETIVO PSICOLÓGICO DO SLIDE</a:t>
            </a:r>
          </a:p>
          <a:p>
            <a:r>
              <a:t>Mostrar que relacionamento e, ao mesmo tempo, vantagem e limite de escala, sem nomear o limite. Levar a pensar em originação e cobertura de mercado como capacidade institucional, não pessoal.</a:t>
            </a:r>
          </a:p>
          <a:p/>
          <a:p>
            <a:pPr>
              <a:defRPr b="1"/>
            </a:pPr>
            <a:r>
              <a:t>SUGESTÃO VISUAL</a:t>
            </a:r>
          </a:p>
          <a:p>
            <a:r>
              <a:t>Mesma gramatica visual da pergunta anterior, para criar ritmo de tríade.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DE APOIO PARA O APRESENTADOR</a:t>
            </a:r>
          </a:p>
          <a:p>
            <a:r>
              <a:t>O crescimento de fluxo costuma chegar antes do crescimento de equipe. Pergunte: quando o volume dobra, o que acontece com a profundidade da análise? Contrata-se, ou aceita-se filtrar pior? O ponto não e fazer mais rapido, e manter o mesmo critério institucional em escala.</a:t>
            </a:r>
          </a:p>
          <a:p/>
          <a:p>
            <a:pPr>
              <a:defRPr b="1"/>
            </a:pPr>
            <a:r>
              <a:t>OBJETIVO PSICOLÓGICO DO SLIDE</a:t>
            </a:r>
          </a:p>
          <a:p>
            <a:r>
              <a:t>Conectar volume a consistência, não a velocidade. Evitar a leitura simplista de eficiência. Posicionar a capacidade analítica como atributo da instituição que precisa crescer sem se diluir.</a:t>
            </a:r>
          </a:p>
          <a:p/>
          <a:p>
            <a:pPr>
              <a:defRPr b="1"/>
            </a:pPr>
            <a:r>
              <a:t>SUGESTÃO VISUAL</a:t>
            </a:r>
          </a:p>
          <a:p>
            <a:r>
              <a:t>Fecha a tríade no mesmo peso visual das duas anteriores.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DE APOIO PARA O APRESENTADOR</a:t>
            </a:r>
          </a:p>
          <a:p>
            <a:r>
              <a:t>Mude o tom: do questionamento para a imagem do estado desejado. Nao prometa, descreva. Diga que as casas que respondem bem a essas tres perguntas tendem a compartilhar esses cinco traços. Deixe que eles se projetem nessa imagem. Ainda não mencione o Mandor.</a:t>
            </a:r>
          </a:p>
          <a:p/>
          <a:p>
            <a:pPr>
              <a:defRPr b="1"/>
            </a:pPr>
            <a:r>
              <a:t>OBJETIVO PSICOLÓGICO DO SLIDE</a:t>
            </a:r>
          </a:p>
          <a:p>
            <a:r>
              <a:t>Criar desejo pelo estado final antes de apresentar qualquer resposta. Transformar perguntas em visão, de modo que a solucao, quando vier, pareca óbvia e não vendida.</a:t>
            </a:r>
          </a:p>
          <a:p/>
          <a:p>
            <a:pPr>
              <a:defRPr b="1"/>
            </a:pPr>
            <a:r>
              <a:t>SUGESTÃO VISUAL</a:t>
            </a:r>
          </a:p>
          <a:p>
            <a:r>
              <a:t>Vira para fundo claro (Archive Ivory). A mudanca de fundo sinaliza resolucao e clareza. Marcadores em bronze.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DE APOIO PARA O APRESENTADOR</a:t>
            </a:r>
          </a:p>
          <a:p>
            <a:r>
              <a:t>So agora o nome aparece. Nao mostre telas, módulos ou funcionalidades. Diga apenas que o Mandor nasceu de observar esse padrão repetidamente e que foi construido para responder exatamente a essas tres perguntas. Convide para uma conversa de continuidade, não para uma demonstração. Encerre devolvendo a palavra a eles.</a:t>
            </a:r>
          </a:p>
          <a:p/>
          <a:p>
            <a:pPr>
              <a:defRPr b="1"/>
            </a:pPr>
            <a:r>
              <a:t>OBJETIVO PSICOLÓGICO DO SLIDE</a:t>
            </a:r>
          </a:p>
          <a:p>
            <a:r>
              <a:t>Apresentar o Mandor como consequência natural da conversa, e não como produto. Ancorar a marca nas tres perguntas que eles acabaram de reconhecer como suas. Posiciona-lo como rede cognitiva entre pares, nunca como software a ser vendido.</a:t>
            </a:r>
          </a:p>
          <a:p/>
          <a:p>
            <a:pPr>
              <a:defRPr b="1"/>
            </a:pPr>
            <a:r>
              <a:t>SUGESTÃO VISUAL</a:t>
            </a:r>
          </a:p>
          <a:p>
            <a:r>
              <a:t>Retorna ao espresso. Monograma I/I e wordmark MANDOR no topo. Texto sóbrio, fechamento com o endereço www.mandor.com.br.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221B13"/>
            </a:gs>
            <a:gs pos="100000">
              <a:srgbClr val="18140F"/>
            </a:gs>
          </a:gsLst>
          <a:lin scaled="0" ang="18300000"/>
        </a:gradFill>
        <a:effectLst/>
      </p:bgPr>
    </p:bg>
    <p:spTree>
      <p:nvGrpSpPr>
        <p:cNvPr id="1" name=""/>
        <p:cNvGrpSpPr/>
        <p:nvPr/>
      </p:nvGrpSpPr>
      <p:grpSpPr/>
      <p:sp>
        <p:nvSpPr>
          <p:cNvPr id="2" name="Rectangle 1"/>
          <p:cNvSpPr/>
          <p:nvPr/>
        </p:nvSpPr>
        <p:spPr>
          <a:xfrm>
            <a:off x="868680" y="840740"/>
            <a:ext cx="292608" cy="25400"/>
          </a:xfrm>
          <a:prstGeom prst="rect">
            <a:avLst/>
          </a:prstGeom>
          <a:solidFill>
            <a:srgbClr val="C0A2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9304" y="777240"/>
            <a:ext cx="8686800" cy="320040"/>
          </a:xfrm>
          <a:prstGeom prst="rect">
            <a:avLst/>
          </a:prstGeom>
          <a:noFill/>
        </p:spPr>
        <p:txBody>
          <a:bodyPr wrap="square" anchor="t" lIns="0" rIns="0" tIns="0" bIns="0">
            <a:spAutoFit/>
          </a:bodyPr>
          <a:lstStyle/>
          <a:p>
            <a:pPr algn="l">
              <a:spcBef>
                <a:spcPts val="0"/>
              </a:spcBef>
              <a:spcAft>
                <a:spcPts val="0"/>
              </a:spcAft>
            </a:pPr>
            <a:r>
              <a:rPr sz="1150" b="1" i="0" spc="320">
                <a:solidFill>
                  <a:srgbClr val="C0A26C"/>
                </a:solidFill>
                <a:latin typeface="Hanken Grotesk"/>
              </a:rPr>
              <a:t>PARA COMEÇAR</a:t>
            </a:r>
          </a:p>
        </p:txBody>
      </p:sp>
      <p:sp>
        <p:nvSpPr>
          <p:cNvPr id="4" name="TextBox 3"/>
          <p:cNvSpPr txBox="1"/>
          <p:nvPr/>
        </p:nvSpPr>
        <p:spPr>
          <a:xfrm>
            <a:off x="868680" y="1325880"/>
            <a:ext cx="9692640" cy="1737360"/>
          </a:xfrm>
          <a:prstGeom prst="rect">
            <a:avLst/>
          </a:prstGeom>
          <a:noFill/>
        </p:spPr>
        <p:txBody>
          <a:bodyPr wrap="square" anchor="t" lIns="0" rIns="0" tIns="0" bIns="0">
            <a:spAutoFit/>
          </a:bodyPr>
          <a:lstStyle/>
          <a:p>
            <a:pPr algn="l">
              <a:lnSpc>
                <a:spcPct val="104000"/>
              </a:lnSpc>
              <a:spcBef>
                <a:spcPts val="0"/>
              </a:spcBef>
              <a:spcAft>
                <a:spcPts val="0"/>
              </a:spcAft>
            </a:pPr>
            <a:r>
              <a:rPr sz="4100" b="0" i="0">
                <a:solidFill>
                  <a:srgbClr val="EDE9E5"/>
                </a:solidFill>
                <a:latin typeface="Newsreader"/>
              </a:rPr>
              <a:t>Três perguntas que surgem em qualquer </a:t>
            </a:r>
            <a:r>
              <a:rPr sz="4100" b="0" i="1">
                <a:solidFill>
                  <a:srgbClr val="C0A26C"/>
                </a:solidFill>
                <a:latin typeface="Newsreader"/>
              </a:rPr>
              <a:t>operação que cresce</a:t>
            </a:r>
          </a:p>
        </p:txBody>
      </p:sp>
      <p:sp>
        <p:nvSpPr>
          <p:cNvPr id="5" name="TextBox 4"/>
          <p:cNvSpPr txBox="1"/>
          <p:nvPr/>
        </p:nvSpPr>
        <p:spPr>
          <a:xfrm>
            <a:off x="868680" y="2971800"/>
            <a:ext cx="8778240" cy="1280160"/>
          </a:xfrm>
          <a:prstGeom prst="rect">
            <a:avLst/>
          </a:prstGeom>
          <a:noFill/>
        </p:spPr>
        <p:txBody>
          <a:bodyPr wrap="square" anchor="t" lIns="0" rIns="0" tIns="0" bIns="0">
            <a:spAutoFit/>
          </a:bodyPr>
          <a:lstStyle/>
          <a:p>
            <a:pPr algn="l">
              <a:lnSpc>
                <a:spcPct val="128000"/>
              </a:lnSpc>
              <a:spcBef>
                <a:spcPts val="0"/>
              </a:spcBef>
              <a:spcAft>
                <a:spcPts val="0"/>
              </a:spcAft>
            </a:pPr>
            <a:r>
              <a:rPr sz="1550" b="0" i="0">
                <a:solidFill>
                  <a:srgbClr val="B7B0A6"/>
                </a:solidFill>
                <a:latin typeface="Newsreader"/>
              </a:rPr>
              <a:t>Toda instituição financeira que amadurece chega, mais cedo ou mais tarde, ao mesmo conjunto de perguntas. Não são sinais de fragilidade. São as perguntas que distinguem quem cresce de quem cresce com método.</a:t>
            </a:r>
          </a:p>
        </p:txBody>
      </p:sp>
      <p:sp>
        <p:nvSpPr>
          <p:cNvPr id="6" name="TextBox 5"/>
          <p:cNvSpPr txBox="1"/>
          <p:nvPr/>
        </p:nvSpPr>
        <p:spPr>
          <a:xfrm>
            <a:off x="868680" y="4343400"/>
            <a:ext cx="10241280" cy="54864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0A26C"/>
                </a:solidFill>
                <a:latin typeface="Newsreader"/>
              </a:rPr>
              <a:t>01</a:t>
            </a:r>
            <a:r>
              <a:rPr sz="1600" b="0" i="0">
                <a:solidFill>
                  <a:srgbClr val="EDE9E5"/>
                </a:solidFill>
                <a:latin typeface="Newsreader"/>
              </a:rPr>
              <a:t>    Quando um profissional-chave sai, o método permanece?</a:t>
            </a:r>
          </a:p>
        </p:txBody>
      </p:sp>
      <p:sp>
        <p:nvSpPr>
          <p:cNvPr id="7" name="TextBox 6"/>
          <p:cNvSpPr txBox="1"/>
          <p:nvPr/>
        </p:nvSpPr>
        <p:spPr>
          <a:xfrm>
            <a:off x="868680" y="4910328"/>
            <a:ext cx="10241280" cy="54864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0A26C"/>
                </a:solidFill>
                <a:latin typeface="Newsreader"/>
              </a:rPr>
              <a:t>02</a:t>
            </a:r>
            <a:r>
              <a:rPr sz="1600" b="0" i="0">
                <a:solidFill>
                  <a:srgbClr val="EDE9E5"/>
                </a:solidFill>
                <a:latin typeface="Newsreader"/>
              </a:rPr>
              <a:t>    O mercado está mapeado ou ainda depende de relacionamento?</a:t>
            </a:r>
          </a:p>
        </p:txBody>
      </p:sp>
      <p:sp>
        <p:nvSpPr>
          <p:cNvPr id="8" name="TextBox 7"/>
          <p:cNvSpPr txBox="1"/>
          <p:nvPr/>
        </p:nvSpPr>
        <p:spPr>
          <a:xfrm>
            <a:off x="868680" y="5477256"/>
            <a:ext cx="10241280" cy="54864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0A26C"/>
                </a:solidFill>
                <a:latin typeface="Newsreader"/>
              </a:rPr>
              <a:t>03</a:t>
            </a:r>
            <a:r>
              <a:rPr sz="1600" b="0" i="0">
                <a:solidFill>
                  <a:srgbClr val="EDE9E5"/>
                </a:solidFill>
                <a:latin typeface="Newsreader"/>
              </a:rPr>
              <a:t>    A capacidade de análise acompanha o volume de oportunidades?</a:t>
            </a:r>
          </a:p>
        </p:txBody>
      </p:sp>
      <p:sp>
        <p:nvSpPr>
          <p:cNvPr id="9" name="Rectangle 8"/>
          <p:cNvSpPr/>
          <p:nvPr/>
        </p:nvSpPr>
        <p:spPr>
          <a:xfrm>
            <a:off x="640080" y="6291072"/>
            <a:ext cx="36576" cy="182880"/>
          </a:xfrm>
          <a:prstGeom prst="rect">
            <a:avLst/>
          </a:prstGeom>
          <a:solidFill>
            <a:srgbClr val="ED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6874" y="6291072"/>
            <a:ext cx="36576" cy="182880"/>
          </a:xfrm>
          <a:prstGeom prst="rect">
            <a:avLst/>
          </a:prstGeom>
          <a:solidFill>
            <a:srgbClr val="ED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683971" y="6291072"/>
            <a:ext cx="85588" cy="182880"/>
          </a:xfrm>
          <a:custGeom>
            <a:avLst/>
            <a:gdLst/>
            <a:ahLst/>
            <a:cxnLst/>
            <a:rect l="l" t="t" r="r" b="b"/>
            <a:pathLst>
              <a:path w="85588" h="182880">
                <a:moveTo>
                  <a:pt x="49012" y="0"/>
                </a:moveTo>
                <a:lnTo>
                  <a:pt x="85588" y="0"/>
                </a:lnTo>
                <a:lnTo>
                  <a:pt x="36576" y="182880"/>
                </a:lnTo>
                <a:lnTo>
                  <a:pt x="0" y="182880"/>
                </a:lnTo>
                <a:close/>
              </a:path>
            </a:pathLst>
          </a:custGeom>
          <a:solidFill>
            <a:srgbClr val="ED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6265672"/>
            <a:ext cx="4572000" cy="274320"/>
          </a:xfrm>
          <a:prstGeom prst="rect">
            <a:avLst/>
          </a:prstGeom>
          <a:noFill/>
        </p:spPr>
        <p:txBody>
          <a:bodyPr wrap="square" anchor="t" lIns="0" rIns="0" tIns="0" bIns="0">
            <a:spAutoFit/>
          </a:bodyPr>
          <a:lstStyle/>
          <a:p>
            <a:pPr algn="l">
              <a:spcBef>
                <a:spcPts val="0"/>
              </a:spcBef>
              <a:spcAft>
                <a:spcPts val="0"/>
              </a:spcAft>
            </a:pPr>
            <a:r>
              <a:rPr sz="1000" b="1" i="0" spc="300">
                <a:solidFill>
                  <a:srgbClr val="B7B0A6"/>
                </a:solidFill>
                <a:latin typeface="Hanken Grotesk"/>
              </a:rPr>
              <a:t>MANDOR</a:t>
            </a:r>
          </a:p>
        </p:txBody>
      </p:sp>
      <p:sp>
        <p:nvSpPr>
          <p:cNvPr id="13" name="TextBox 12"/>
          <p:cNvSpPr txBox="1"/>
          <p:nvPr/>
        </p:nvSpPr>
        <p:spPr>
          <a:xfrm>
            <a:off x="10180015" y="6265672"/>
            <a:ext cx="1371600" cy="274320"/>
          </a:xfrm>
          <a:prstGeom prst="rect">
            <a:avLst/>
          </a:prstGeom>
          <a:noFill/>
        </p:spPr>
        <p:txBody>
          <a:bodyPr wrap="square" anchor="t" lIns="0" rIns="0" tIns="0" bIns="0">
            <a:spAutoFit/>
          </a:bodyPr>
          <a:lstStyle/>
          <a:p>
            <a:pPr algn="r">
              <a:spcBef>
                <a:spcPts val="0"/>
              </a:spcBef>
              <a:spcAft>
                <a:spcPts val="0"/>
              </a:spcAft>
            </a:pPr>
            <a:r>
              <a:rPr sz="1000" b="0" i="0" spc="200">
                <a:solidFill>
                  <a:srgbClr val="B7B0A6"/>
                </a:solidFill>
                <a:latin typeface="Hanken Grotesk"/>
              </a:rPr>
              <a:t>01 / 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gradFill rotWithShape="1">
          <a:gsLst>
            <a:gs pos="0">
              <a:srgbClr val="221B13"/>
            </a:gs>
            <a:gs pos="100000">
              <a:srgbClr val="18140F"/>
            </a:gs>
          </a:gsLst>
          <a:lin scaled="0" ang="18300000"/>
        </a:gradFill>
        <a:effectLst/>
      </p:bgPr>
    </p:bg>
    <p:spTree>
      <p:nvGrpSpPr>
        <p:cNvPr id="1" name=""/>
        <p:cNvGrpSpPr/>
        <p:nvPr/>
      </p:nvGrpSpPr>
      <p:grpSpPr/>
      <p:sp>
        <p:nvSpPr>
          <p:cNvPr id="2" name="Rectangle 1"/>
          <p:cNvSpPr/>
          <p:nvPr/>
        </p:nvSpPr>
        <p:spPr>
          <a:xfrm>
            <a:off x="868680" y="886460"/>
            <a:ext cx="292608" cy="25400"/>
          </a:xfrm>
          <a:prstGeom prst="rect">
            <a:avLst/>
          </a:prstGeom>
          <a:solidFill>
            <a:srgbClr val="C0A2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9304" y="822960"/>
            <a:ext cx="8686800" cy="320040"/>
          </a:xfrm>
          <a:prstGeom prst="rect">
            <a:avLst/>
          </a:prstGeom>
          <a:noFill/>
        </p:spPr>
        <p:txBody>
          <a:bodyPr wrap="square" anchor="t" lIns="0" rIns="0" tIns="0" bIns="0">
            <a:spAutoFit/>
          </a:bodyPr>
          <a:lstStyle/>
          <a:p>
            <a:pPr algn="l">
              <a:spcBef>
                <a:spcPts val="0"/>
              </a:spcBef>
              <a:spcAft>
                <a:spcPts val="0"/>
              </a:spcAft>
            </a:pPr>
            <a:r>
              <a:rPr sz="1150" b="1" i="0" spc="320">
                <a:solidFill>
                  <a:srgbClr val="C0A26C"/>
                </a:solidFill>
                <a:latin typeface="Hanken Grotesk"/>
              </a:rPr>
              <a:t>PERGUNTA 01</a:t>
            </a:r>
          </a:p>
        </p:txBody>
      </p:sp>
      <p:sp>
        <p:nvSpPr>
          <p:cNvPr id="4" name="TextBox 3"/>
          <p:cNvSpPr txBox="1"/>
          <p:nvPr/>
        </p:nvSpPr>
        <p:spPr>
          <a:xfrm>
            <a:off x="868680" y="1371600"/>
            <a:ext cx="10058400" cy="411480"/>
          </a:xfrm>
          <a:prstGeom prst="rect">
            <a:avLst/>
          </a:prstGeom>
          <a:noFill/>
        </p:spPr>
        <p:txBody>
          <a:bodyPr wrap="square" anchor="t" lIns="0" rIns="0" tIns="0" bIns="0">
            <a:spAutoFit/>
          </a:bodyPr>
          <a:lstStyle/>
          <a:p>
            <a:pPr algn="l">
              <a:spcBef>
                <a:spcPts val="0"/>
              </a:spcBef>
              <a:spcAft>
                <a:spcPts val="0"/>
              </a:spcAft>
            </a:pPr>
            <a:r>
              <a:rPr sz="1500" b="0" i="1">
                <a:solidFill>
                  <a:srgbClr val="C0A26C"/>
                </a:solidFill>
                <a:latin typeface="Newsreader"/>
              </a:rPr>
              <a:t>A pergunta da memória institucional.</a:t>
            </a:r>
          </a:p>
        </p:txBody>
      </p:sp>
      <p:sp>
        <p:nvSpPr>
          <p:cNvPr id="5" name="TextBox 4"/>
          <p:cNvSpPr txBox="1"/>
          <p:nvPr/>
        </p:nvSpPr>
        <p:spPr>
          <a:xfrm>
            <a:off x="868680" y="1920240"/>
            <a:ext cx="10241280" cy="2011680"/>
          </a:xfrm>
          <a:prstGeom prst="rect">
            <a:avLst/>
          </a:prstGeom>
          <a:noFill/>
        </p:spPr>
        <p:txBody>
          <a:bodyPr wrap="square" anchor="t" lIns="0" rIns="0" tIns="0" bIns="0">
            <a:spAutoFit/>
          </a:bodyPr>
          <a:lstStyle/>
          <a:p>
            <a:pPr algn="l">
              <a:lnSpc>
                <a:spcPct val="105000"/>
              </a:lnSpc>
              <a:spcBef>
                <a:spcPts val="0"/>
              </a:spcBef>
              <a:spcAft>
                <a:spcPts val="0"/>
              </a:spcAft>
            </a:pPr>
            <a:r>
              <a:rPr sz="4400" b="0" i="0">
                <a:solidFill>
                  <a:srgbClr val="EDE9E5"/>
                </a:solidFill>
                <a:latin typeface="Newsreader"/>
              </a:rPr>
              <a:t>Quando um profissional-chave sai, o método permanece?</a:t>
            </a:r>
          </a:p>
        </p:txBody>
      </p:sp>
      <p:sp>
        <p:nvSpPr>
          <p:cNvPr id="6" name="TextBox 5"/>
          <p:cNvSpPr txBox="1"/>
          <p:nvPr/>
        </p:nvSpPr>
        <p:spPr>
          <a:xfrm>
            <a:off x="868680" y="4251960"/>
            <a:ext cx="10058400" cy="50292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8C6F45"/>
                </a:solidFill>
                <a:latin typeface="Hanken Grotesk"/>
              </a:rPr>
              <a:t>/  </a:t>
            </a:r>
            <a:r>
              <a:rPr sz="1600" b="0" i="0">
                <a:solidFill>
                  <a:srgbClr val="B7B0A6"/>
                </a:solidFill>
                <a:latin typeface="Newsreader"/>
              </a:rPr>
              <a:t>O critério de análise vive nas pessoas ou na instituição?</a:t>
            </a:r>
          </a:p>
        </p:txBody>
      </p:sp>
      <p:sp>
        <p:nvSpPr>
          <p:cNvPr id="7" name="TextBox 6"/>
          <p:cNvSpPr txBox="1"/>
          <p:nvPr/>
        </p:nvSpPr>
        <p:spPr>
          <a:xfrm>
            <a:off x="868680" y="4800600"/>
            <a:ext cx="10058400" cy="50292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8C6F45"/>
                </a:solidFill>
                <a:latin typeface="Hanken Grotesk"/>
              </a:rPr>
              <a:t>/  </a:t>
            </a:r>
            <a:r>
              <a:rPr sz="1600" b="0" i="0">
                <a:solidFill>
                  <a:srgbClr val="B7B0A6"/>
                </a:solidFill>
                <a:latin typeface="Newsreader"/>
              </a:rPr>
              <a:t>O conhecimento acumulado é transferível, ou recomeça a cada saída?</a:t>
            </a:r>
          </a:p>
        </p:txBody>
      </p:sp>
      <p:sp>
        <p:nvSpPr>
          <p:cNvPr id="8" name="TextBox 7"/>
          <p:cNvSpPr txBox="1"/>
          <p:nvPr/>
        </p:nvSpPr>
        <p:spPr>
          <a:xfrm>
            <a:off x="868680" y="5349240"/>
            <a:ext cx="10058400" cy="50292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8C6F45"/>
                </a:solidFill>
                <a:latin typeface="Hanken Grotesk"/>
              </a:rPr>
              <a:t>/  </a:t>
            </a:r>
            <a:r>
              <a:rPr sz="1600" b="0" i="0">
                <a:solidFill>
                  <a:srgbClr val="B7B0A6"/>
                </a:solidFill>
                <a:latin typeface="Newsreader"/>
              </a:rPr>
              <a:t>A senioridade é um ativo da casa, ou um risco concentrado em poucos nomes?</a:t>
            </a:r>
          </a:p>
        </p:txBody>
      </p:sp>
      <p:sp>
        <p:nvSpPr>
          <p:cNvPr id="9" name="Rectangle 8"/>
          <p:cNvSpPr/>
          <p:nvPr/>
        </p:nvSpPr>
        <p:spPr>
          <a:xfrm>
            <a:off x="640080" y="6291072"/>
            <a:ext cx="36576" cy="182880"/>
          </a:xfrm>
          <a:prstGeom prst="rect">
            <a:avLst/>
          </a:prstGeom>
          <a:solidFill>
            <a:srgbClr val="ED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6874" y="6291072"/>
            <a:ext cx="36576" cy="182880"/>
          </a:xfrm>
          <a:prstGeom prst="rect">
            <a:avLst/>
          </a:prstGeom>
          <a:solidFill>
            <a:srgbClr val="ED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683971" y="6291072"/>
            <a:ext cx="85588" cy="182880"/>
          </a:xfrm>
          <a:custGeom>
            <a:avLst/>
            <a:gdLst/>
            <a:ahLst/>
            <a:cxnLst/>
            <a:rect l="l" t="t" r="r" b="b"/>
            <a:pathLst>
              <a:path w="85588" h="182880">
                <a:moveTo>
                  <a:pt x="49012" y="0"/>
                </a:moveTo>
                <a:lnTo>
                  <a:pt x="85588" y="0"/>
                </a:lnTo>
                <a:lnTo>
                  <a:pt x="36576" y="182880"/>
                </a:lnTo>
                <a:lnTo>
                  <a:pt x="0" y="182880"/>
                </a:lnTo>
                <a:close/>
              </a:path>
            </a:pathLst>
          </a:custGeom>
          <a:solidFill>
            <a:srgbClr val="ED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6265672"/>
            <a:ext cx="4572000" cy="274320"/>
          </a:xfrm>
          <a:prstGeom prst="rect">
            <a:avLst/>
          </a:prstGeom>
          <a:noFill/>
        </p:spPr>
        <p:txBody>
          <a:bodyPr wrap="square" anchor="t" lIns="0" rIns="0" tIns="0" bIns="0">
            <a:spAutoFit/>
          </a:bodyPr>
          <a:lstStyle/>
          <a:p>
            <a:pPr algn="l">
              <a:spcBef>
                <a:spcPts val="0"/>
              </a:spcBef>
              <a:spcAft>
                <a:spcPts val="0"/>
              </a:spcAft>
            </a:pPr>
            <a:r>
              <a:rPr sz="1000" b="1" i="0" spc="300">
                <a:solidFill>
                  <a:srgbClr val="B7B0A6"/>
                </a:solidFill>
                <a:latin typeface="Hanken Grotesk"/>
              </a:rPr>
              <a:t>MANDOR</a:t>
            </a:r>
          </a:p>
        </p:txBody>
      </p:sp>
      <p:sp>
        <p:nvSpPr>
          <p:cNvPr id="13" name="TextBox 12"/>
          <p:cNvSpPr txBox="1"/>
          <p:nvPr/>
        </p:nvSpPr>
        <p:spPr>
          <a:xfrm>
            <a:off x="10180015" y="6265672"/>
            <a:ext cx="1371600" cy="274320"/>
          </a:xfrm>
          <a:prstGeom prst="rect">
            <a:avLst/>
          </a:prstGeom>
          <a:noFill/>
        </p:spPr>
        <p:txBody>
          <a:bodyPr wrap="square" anchor="t" lIns="0" rIns="0" tIns="0" bIns="0">
            <a:spAutoFit/>
          </a:bodyPr>
          <a:lstStyle/>
          <a:p>
            <a:pPr algn="r">
              <a:spcBef>
                <a:spcPts val="0"/>
              </a:spcBef>
              <a:spcAft>
                <a:spcPts val="0"/>
              </a:spcAft>
            </a:pPr>
            <a:r>
              <a:rPr sz="1000" b="0" i="0" spc="200">
                <a:solidFill>
                  <a:srgbClr val="B7B0A6"/>
                </a:solidFill>
                <a:latin typeface="Hanken Grotesk"/>
              </a:rPr>
              <a:t>02 / 06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gradFill rotWithShape="1">
          <a:gsLst>
            <a:gs pos="0">
              <a:srgbClr val="221B13"/>
            </a:gs>
            <a:gs pos="100000">
              <a:srgbClr val="18140F"/>
            </a:gs>
          </a:gsLst>
          <a:lin scaled="0" ang="18300000"/>
        </a:gradFill>
        <a:effectLst/>
      </p:bgPr>
    </p:bg>
    <p:spTree>
      <p:nvGrpSpPr>
        <p:cNvPr id="1" name=""/>
        <p:cNvGrpSpPr/>
        <p:nvPr/>
      </p:nvGrpSpPr>
      <p:grpSpPr/>
      <p:sp>
        <p:nvSpPr>
          <p:cNvPr id="2" name="Rectangle 1"/>
          <p:cNvSpPr/>
          <p:nvPr/>
        </p:nvSpPr>
        <p:spPr>
          <a:xfrm>
            <a:off x="868680" y="886460"/>
            <a:ext cx="292608" cy="25400"/>
          </a:xfrm>
          <a:prstGeom prst="rect">
            <a:avLst/>
          </a:prstGeom>
          <a:solidFill>
            <a:srgbClr val="C0A2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9304" y="822960"/>
            <a:ext cx="8686800" cy="320040"/>
          </a:xfrm>
          <a:prstGeom prst="rect">
            <a:avLst/>
          </a:prstGeom>
          <a:noFill/>
        </p:spPr>
        <p:txBody>
          <a:bodyPr wrap="square" anchor="t" lIns="0" rIns="0" tIns="0" bIns="0">
            <a:spAutoFit/>
          </a:bodyPr>
          <a:lstStyle/>
          <a:p>
            <a:pPr algn="l">
              <a:spcBef>
                <a:spcPts val="0"/>
              </a:spcBef>
              <a:spcAft>
                <a:spcPts val="0"/>
              </a:spcAft>
            </a:pPr>
            <a:r>
              <a:rPr sz="1150" b="1" i="0" spc="320">
                <a:solidFill>
                  <a:srgbClr val="C0A26C"/>
                </a:solidFill>
                <a:latin typeface="Hanken Grotesk"/>
              </a:rPr>
              <a:t>PERGUNTA 02</a:t>
            </a:r>
          </a:p>
        </p:txBody>
      </p:sp>
      <p:sp>
        <p:nvSpPr>
          <p:cNvPr id="4" name="TextBox 3"/>
          <p:cNvSpPr txBox="1"/>
          <p:nvPr/>
        </p:nvSpPr>
        <p:spPr>
          <a:xfrm>
            <a:off x="868680" y="1371600"/>
            <a:ext cx="10058400" cy="411480"/>
          </a:xfrm>
          <a:prstGeom prst="rect">
            <a:avLst/>
          </a:prstGeom>
          <a:noFill/>
        </p:spPr>
        <p:txBody>
          <a:bodyPr wrap="square" anchor="t" lIns="0" rIns="0" tIns="0" bIns="0">
            <a:spAutoFit/>
          </a:bodyPr>
          <a:lstStyle/>
          <a:p>
            <a:pPr algn="l">
              <a:spcBef>
                <a:spcPts val="0"/>
              </a:spcBef>
              <a:spcAft>
                <a:spcPts val="0"/>
              </a:spcAft>
            </a:pPr>
            <a:r>
              <a:rPr sz="1500" b="0" i="1">
                <a:solidFill>
                  <a:srgbClr val="C0A26C"/>
                </a:solidFill>
                <a:latin typeface="Newsreader"/>
              </a:rPr>
              <a:t>A pergunta da originação.</a:t>
            </a:r>
          </a:p>
        </p:txBody>
      </p:sp>
      <p:sp>
        <p:nvSpPr>
          <p:cNvPr id="5" name="TextBox 4"/>
          <p:cNvSpPr txBox="1"/>
          <p:nvPr/>
        </p:nvSpPr>
        <p:spPr>
          <a:xfrm>
            <a:off x="868680" y="1920240"/>
            <a:ext cx="10241280" cy="2011680"/>
          </a:xfrm>
          <a:prstGeom prst="rect">
            <a:avLst/>
          </a:prstGeom>
          <a:noFill/>
        </p:spPr>
        <p:txBody>
          <a:bodyPr wrap="square" anchor="t" lIns="0" rIns="0" tIns="0" bIns="0">
            <a:spAutoFit/>
          </a:bodyPr>
          <a:lstStyle/>
          <a:p>
            <a:pPr algn="l">
              <a:lnSpc>
                <a:spcPct val="105000"/>
              </a:lnSpc>
              <a:spcBef>
                <a:spcPts val="0"/>
              </a:spcBef>
              <a:spcAft>
                <a:spcPts val="0"/>
              </a:spcAft>
            </a:pPr>
            <a:r>
              <a:rPr sz="4400" b="0" i="0">
                <a:solidFill>
                  <a:srgbClr val="EDE9E5"/>
                </a:solidFill>
                <a:latin typeface="Newsreader"/>
              </a:rPr>
              <a:t>O mercado está mapeado ou ainda depende de relacionamento?</a:t>
            </a:r>
          </a:p>
        </p:txBody>
      </p:sp>
      <p:sp>
        <p:nvSpPr>
          <p:cNvPr id="6" name="TextBox 5"/>
          <p:cNvSpPr txBox="1"/>
          <p:nvPr/>
        </p:nvSpPr>
        <p:spPr>
          <a:xfrm>
            <a:off x="868680" y="4251960"/>
            <a:ext cx="10058400" cy="50292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8C6F45"/>
                </a:solidFill>
                <a:latin typeface="Hanken Grotesk"/>
              </a:rPr>
              <a:t>/  </a:t>
            </a:r>
            <a:r>
              <a:rPr sz="1600" b="0" i="0">
                <a:solidFill>
                  <a:srgbClr val="B7B0A6"/>
                </a:solidFill>
                <a:latin typeface="Newsreader"/>
              </a:rPr>
              <a:t>A originação escala com a casa, ou com a agenda de cada sócio?</a:t>
            </a:r>
          </a:p>
        </p:txBody>
      </p:sp>
      <p:sp>
        <p:nvSpPr>
          <p:cNvPr id="7" name="TextBox 6"/>
          <p:cNvSpPr txBox="1"/>
          <p:nvPr/>
        </p:nvSpPr>
        <p:spPr>
          <a:xfrm>
            <a:off x="868680" y="4800600"/>
            <a:ext cx="10058400" cy="50292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8C6F45"/>
                </a:solidFill>
                <a:latin typeface="Hanken Grotesk"/>
              </a:rPr>
              <a:t>/  </a:t>
            </a:r>
            <a:r>
              <a:rPr sz="1600" b="0" i="0">
                <a:solidFill>
                  <a:srgbClr val="B7B0A6"/>
                </a:solidFill>
                <a:latin typeface="Newsreader"/>
              </a:rPr>
              <a:t>A cada operação, sabemos exatamente para quem levá-la?</a:t>
            </a:r>
          </a:p>
        </p:txBody>
      </p:sp>
      <p:sp>
        <p:nvSpPr>
          <p:cNvPr id="8" name="TextBox 7"/>
          <p:cNvSpPr txBox="1"/>
          <p:nvPr/>
        </p:nvSpPr>
        <p:spPr>
          <a:xfrm>
            <a:off x="868680" y="5349240"/>
            <a:ext cx="10058400" cy="50292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8C6F45"/>
                </a:solidFill>
                <a:latin typeface="Hanken Grotesk"/>
              </a:rPr>
              <a:t>/  </a:t>
            </a:r>
            <a:r>
              <a:rPr sz="1600" b="0" i="0">
                <a:solidFill>
                  <a:srgbClr val="B7B0A6"/>
                </a:solidFill>
                <a:latin typeface="Newsreader"/>
              </a:rPr>
              <a:t>O relacionamento é o diferencial da casa, ou o seu teto?</a:t>
            </a:r>
          </a:p>
        </p:txBody>
      </p:sp>
      <p:sp>
        <p:nvSpPr>
          <p:cNvPr id="9" name="Rectangle 8"/>
          <p:cNvSpPr/>
          <p:nvPr/>
        </p:nvSpPr>
        <p:spPr>
          <a:xfrm>
            <a:off x="640080" y="6291072"/>
            <a:ext cx="36576" cy="182880"/>
          </a:xfrm>
          <a:prstGeom prst="rect">
            <a:avLst/>
          </a:prstGeom>
          <a:solidFill>
            <a:srgbClr val="ED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6874" y="6291072"/>
            <a:ext cx="36576" cy="182880"/>
          </a:xfrm>
          <a:prstGeom prst="rect">
            <a:avLst/>
          </a:prstGeom>
          <a:solidFill>
            <a:srgbClr val="ED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683971" y="6291072"/>
            <a:ext cx="85588" cy="182880"/>
          </a:xfrm>
          <a:custGeom>
            <a:avLst/>
            <a:gdLst/>
            <a:ahLst/>
            <a:cxnLst/>
            <a:rect l="l" t="t" r="r" b="b"/>
            <a:pathLst>
              <a:path w="85588" h="182880">
                <a:moveTo>
                  <a:pt x="49012" y="0"/>
                </a:moveTo>
                <a:lnTo>
                  <a:pt x="85588" y="0"/>
                </a:lnTo>
                <a:lnTo>
                  <a:pt x="36576" y="182880"/>
                </a:lnTo>
                <a:lnTo>
                  <a:pt x="0" y="182880"/>
                </a:lnTo>
                <a:close/>
              </a:path>
            </a:pathLst>
          </a:custGeom>
          <a:solidFill>
            <a:srgbClr val="ED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6265672"/>
            <a:ext cx="4572000" cy="274320"/>
          </a:xfrm>
          <a:prstGeom prst="rect">
            <a:avLst/>
          </a:prstGeom>
          <a:noFill/>
        </p:spPr>
        <p:txBody>
          <a:bodyPr wrap="square" anchor="t" lIns="0" rIns="0" tIns="0" bIns="0">
            <a:spAutoFit/>
          </a:bodyPr>
          <a:lstStyle/>
          <a:p>
            <a:pPr algn="l">
              <a:spcBef>
                <a:spcPts val="0"/>
              </a:spcBef>
              <a:spcAft>
                <a:spcPts val="0"/>
              </a:spcAft>
            </a:pPr>
            <a:r>
              <a:rPr sz="1000" b="1" i="0" spc="300">
                <a:solidFill>
                  <a:srgbClr val="B7B0A6"/>
                </a:solidFill>
                <a:latin typeface="Hanken Grotesk"/>
              </a:rPr>
              <a:t>MANDOR</a:t>
            </a:r>
          </a:p>
        </p:txBody>
      </p:sp>
      <p:sp>
        <p:nvSpPr>
          <p:cNvPr id="13" name="TextBox 12"/>
          <p:cNvSpPr txBox="1"/>
          <p:nvPr/>
        </p:nvSpPr>
        <p:spPr>
          <a:xfrm>
            <a:off x="10180015" y="6265672"/>
            <a:ext cx="1371600" cy="274320"/>
          </a:xfrm>
          <a:prstGeom prst="rect">
            <a:avLst/>
          </a:prstGeom>
          <a:noFill/>
        </p:spPr>
        <p:txBody>
          <a:bodyPr wrap="square" anchor="t" lIns="0" rIns="0" tIns="0" bIns="0">
            <a:spAutoFit/>
          </a:bodyPr>
          <a:lstStyle/>
          <a:p>
            <a:pPr algn="r">
              <a:spcBef>
                <a:spcPts val="0"/>
              </a:spcBef>
              <a:spcAft>
                <a:spcPts val="0"/>
              </a:spcAft>
            </a:pPr>
            <a:r>
              <a:rPr sz="1000" b="0" i="0" spc="200">
                <a:solidFill>
                  <a:srgbClr val="B7B0A6"/>
                </a:solidFill>
                <a:latin typeface="Hanken Grotesk"/>
              </a:rPr>
              <a:t>03 / 06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gradFill rotWithShape="1">
          <a:gsLst>
            <a:gs pos="0">
              <a:srgbClr val="221B13"/>
            </a:gs>
            <a:gs pos="100000">
              <a:srgbClr val="18140F"/>
            </a:gs>
          </a:gsLst>
          <a:lin scaled="0" ang="18300000"/>
        </a:gradFill>
        <a:effectLst/>
      </p:bgPr>
    </p:bg>
    <p:spTree>
      <p:nvGrpSpPr>
        <p:cNvPr id="1" name=""/>
        <p:cNvGrpSpPr/>
        <p:nvPr/>
      </p:nvGrpSpPr>
      <p:grpSpPr/>
      <p:sp>
        <p:nvSpPr>
          <p:cNvPr id="2" name="Rectangle 1"/>
          <p:cNvSpPr/>
          <p:nvPr/>
        </p:nvSpPr>
        <p:spPr>
          <a:xfrm>
            <a:off x="868680" y="886460"/>
            <a:ext cx="292608" cy="25400"/>
          </a:xfrm>
          <a:prstGeom prst="rect">
            <a:avLst/>
          </a:prstGeom>
          <a:solidFill>
            <a:srgbClr val="C0A2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9304" y="822960"/>
            <a:ext cx="8686800" cy="320040"/>
          </a:xfrm>
          <a:prstGeom prst="rect">
            <a:avLst/>
          </a:prstGeom>
          <a:noFill/>
        </p:spPr>
        <p:txBody>
          <a:bodyPr wrap="square" anchor="t" lIns="0" rIns="0" tIns="0" bIns="0">
            <a:spAutoFit/>
          </a:bodyPr>
          <a:lstStyle/>
          <a:p>
            <a:pPr algn="l">
              <a:spcBef>
                <a:spcPts val="0"/>
              </a:spcBef>
              <a:spcAft>
                <a:spcPts val="0"/>
              </a:spcAft>
            </a:pPr>
            <a:r>
              <a:rPr sz="1150" b="1" i="0" spc="320">
                <a:solidFill>
                  <a:srgbClr val="C0A26C"/>
                </a:solidFill>
                <a:latin typeface="Hanken Grotesk"/>
              </a:rPr>
              <a:t>PERGUNTA 03</a:t>
            </a:r>
          </a:p>
        </p:txBody>
      </p:sp>
      <p:sp>
        <p:nvSpPr>
          <p:cNvPr id="4" name="TextBox 3"/>
          <p:cNvSpPr txBox="1"/>
          <p:nvPr/>
        </p:nvSpPr>
        <p:spPr>
          <a:xfrm>
            <a:off x="868680" y="1371600"/>
            <a:ext cx="10058400" cy="411480"/>
          </a:xfrm>
          <a:prstGeom prst="rect">
            <a:avLst/>
          </a:prstGeom>
          <a:noFill/>
        </p:spPr>
        <p:txBody>
          <a:bodyPr wrap="square" anchor="t" lIns="0" rIns="0" tIns="0" bIns="0">
            <a:spAutoFit/>
          </a:bodyPr>
          <a:lstStyle/>
          <a:p>
            <a:pPr algn="l">
              <a:spcBef>
                <a:spcPts val="0"/>
              </a:spcBef>
              <a:spcAft>
                <a:spcPts val="0"/>
              </a:spcAft>
            </a:pPr>
            <a:r>
              <a:rPr sz="1500" b="0" i="1">
                <a:solidFill>
                  <a:srgbClr val="C0A26C"/>
                </a:solidFill>
                <a:latin typeface="Newsreader"/>
              </a:rPr>
              <a:t>A pergunta da escala.</a:t>
            </a:r>
          </a:p>
        </p:txBody>
      </p:sp>
      <p:sp>
        <p:nvSpPr>
          <p:cNvPr id="5" name="TextBox 4"/>
          <p:cNvSpPr txBox="1"/>
          <p:nvPr/>
        </p:nvSpPr>
        <p:spPr>
          <a:xfrm>
            <a:off x="868680" y="1920240"/>
            <a:ext cx="10241280" cy="2011680"/>
          </a:xfrm>
          <a:prstGeom prst="rect">
            <a:avLst/>
          </a:prstGeom>
          <a:noFill/>
        </p:spPr>
        <p:txBody>
          <a:bodyPr wrap="square" anchor="t" lIns="0" rIns="0" tIns="0" bIns="0">
            <a:spAutoFit/>
          </a:bodyPr>
          <a:lstStyle/>
          <a:p>
            <a:pPr algn="l">
              <a:lnSpc>
                <a:spcPct val="105000"/>
              </a:lnSpc>
              <a:spcBef>
                <a:spcPts val="0"/>
              </a:spcBef>
              <a:spcAft>
                <a:spcPts val="0"/>
              </a:spcAft>
            </a:pPr>
            <a:r>
              <a:rPr sz="4400" b="0" i="0">
                <a:solidFill>
                  <a:srgbClr val="EDE9E5"/>
                </a:solidFill>
                <a:latin typeface="Newsreader"/>
              </a:rPr>
              <a:t>A capacidade de análise acompanha o volume de oportunidades?</a:t>
            </a:r>
          </a:p>
        </p:txBody>
      </p:sp>
      <p:sp>
        <p:nvSpPr>
          <p:cNvPr id="6" name="TextBox 5"/>
          <p:cNvSpPr txBox="1"/>
          <p:nvPr/>
        </p:nvSpPr>
        <p:spPr>
          <a:xfrm>
            <a:off x="868680" y="4251960"/>
            <a:ext cx="10058400" cy="50292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8C6F45"/>
                </a:solidFill>
                <a:latin typeface="Hanken Grotesk"/>
              </a:rPr>
              <a:t>/  </a:t>
            </a:r>
            <a:r>
              <a:rPr sz="1600" b="0" i="0">
                <a:solidFill>
                  <a:srgbClr val="B7B0A6"/>
                </a:solidFill>
                <a:latin typeface="Newsreader"/>
              </a:rPr>
              <a:t>Cada nova oportunidade exige mais gente, ou o mesmo critério?</a:t>
            </a:r>
          </a:p>
        </p:txBody>
      </p:sp>
      <p:sp>
        <p:nvSpPr>
          <p:cNvPr id="7" name="TextBox 6"/>
          <p:cNvSpPr txBox="1"/>
          <p:nvPr/>
        </p:nvSpPr>
        <p:spPr>
          <a:xfrm>
            <a:off x="868680" y="4800600"/>
            <a:ext cx="10058400" cy="50292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8C6F45"/>
                </a:solidFill>
                <a:latin typeface="Hanken Grotesk"/>
              </a:rPr>
              <a:t>/  </a:t>
            </a:r>
            <a:r>
              <a:rPr sz="1600" b="0" i="0">
                <a:solidFill>
                  <a:srgbClr val="B7B0A6"/>
                </a:solidFill>
                <a:latin typeface="Newsreader"/>
              </a:rPr>
              <a:t>O padrão de análise se sustenta quando o fluxo dobra?</a:t>
            </a:r>
          </a:p>
        </p:txBody>
      </p:sp>
      <p:sp>
        <p:nvSpPr>
          <p:cNvPr id="8" name="TextBox 7"/>
          <p:cNvSpPr txBox="1"/>
          <p:nvPr/>
        </p:nvSpPr>
        <p:spPr>
          <a:xfrm>
            <a:off x="868680" y="5349240"/>
            <a:ext cx="10058400" cy="50292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8C6F45"/>
                </a:solidFill>
                <a:latin typeface="Hanken Grotesk"/>
              </a:rPr>
              <a:t>/  </a:t>
            </a:r>
            <a:r>
              <a:rPr sz="1600" b="0" i="0">
                <a:solidFill>
                  <a:srgbClr val="B7B0A6"/>
                </a:solidFill>
                <a:latin typeface="Newsreader"/>
              </a:rPr>
              <a:t>Crescer em volume amplia a consistência, ou a dilui?</a:t>
            </a:r>
          </a:p>
        </p:txBody>
      </p:sp>
      <p:sp>
        <p:nvSpPr>
          <p:cNvPr id="9" name="Rectangle 8"/>
          <p:cNvSpPr/>
          <p:nvPr/>
        </p:nvSpPr>
        <p:spPr>
          <a:xfrm>
            <a:off x="640080" y="6291072"/>
            <a:ext cx="36576" cy="182880"/>
          </a:xfrm>
          <a:prstGeom prst="rect">
            <a:avLst/>
          </a:prstGeom>
          <a:solidFill>
            <a:srgbClr val="ED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6874" y="6291072"/>
            <a:ext cx="36576" cy="182880"/>
          </a:xfrm>
          <a:prstGeom prst="rect">
            <a:avLst/>
          </a:prstGeom>
          <a:solidFill>
            <a:srgbClr val="ED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683971" y="6291072"/>
            <a:ext cx="85588" cy="182880"/>
          </a:xfrm>
          <a:custGeom>
            <a:avLst/>
            <a:gdLst/>
            <a:ahLst/>
            <a:cxnLst/>
            <a:rect l="l" t="t" r="r" b="b"/>
            <a:pathLst>
              <a:path w="85588" h="182880">
                <a:moveTo>
                  <a:pt x="49012" y="0"/>
                </a:moveTo>
                <a:lnTo>
                  <a:pt x="85588" y="0"/>
                </a:lnTo>
                <a:lnTo>
                  <a:pt x="36576" y="182880"/>
                </a:lnTo>
                <a:lnTo>
                  <a:pt x="0" y="182880"/>
                </a:lnTo>
                <a:close/>
              </a:path>
            </a:pathLst>
          </a:custGeom>
          <a:solidFill>
            <a:srgbClr val="ED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6265672"/>
            <a:ext cx="4572000" cy="274320"/>
          </a:xfrm>
          <a:prstGeom prst="rect">
            <a:avLst/>
          </a:prstGeom>
          <a:noFill/>
        </p:spPr>
        <p:txBody>
          <a:bodyPr wrap="square" anchor="t" lIns="0" rIns="0" tIns="0" bIns="0">
            <a:spAutoFit/>
          </a:bodyPr>
          <a:lstStyle/>
          <a:p>
            <a:pPr algn="l">
              <a:spcBef>
                <a:spcPts val="0"/>
              </a:spcBef>
              <a:spcAft>
                <a:spcPts val="0"/>
              </a:spcAft>
            </a:pPr>
            <a:r>
              <a:rPr sz="1000" b="1" i="0" spc="300">
                <a:solidFill>
                  <a:srgbClr val="B7B0A6"/>
                </a:solidFill>
                <a:latin typeface="Hanken Grotesk"/>
              </a:rPr>
              <a:t>MANDOR</a:t>
            </a:r>
          </a:p>
        </p:txBody>
      </p:sp>
      <p:sp>
        <p:nvSpPr>
          <p:cNvPr id="13" name="TextBox 12"/>
          <p:cNvSpPr txBox="1"/>
          <p:nvPr/>
        </p:nvSpPr>
        <p:spPr>
          <a:xfrm>
            <a:off x="10180015" y="6265672"/>
            <a:ext cx="1371600" cy="274320"/>
          </a:xfrm>
          <a:prstGeom prst="rect">
            <a:avLst/>
          </a:prstGeom>
          <a:noFill/>
        </p:spPr>
        <p:txBody>
          <a:bodyPr wrap="square" anchor="t" lIns="0" rIns="0" tIns="0" bIns="0">
            <a:spAutoFit/>
          </a:bodyPr>
          <a:lstStyle/>
          <a:p>
            <a:pPr algn="r">
              <a:spcBef>
                <a:spcPts val="0"/>
              </a:spcBef>
              <a:spcAft>
                <a:spcPts val="0"/>
              </a:spcAft>
            </a:pPr>
            <a:r>
              <a:rPr sz="1000" b="0" i="0" spc="200">
                <a:solidFill>
                  <a:srgbClr val="B7B0A6"/>
                </a:solidFill>
                <a:latin typeface="Hanken Grotesk"/>
              </a:rPr>
              <a:t>04 / 06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gradFill rotWithShape="1">
          <a:gsLst>
            <a:gs pos="0">
              <a:srgbClr val="EDE9E5"/>
            </a:gs>
            <a:gs pos="100000">
              <a:srgbClr val="E2DBD1"/>
            </a:gs>
          </a:gsLst>
          <a:lin scaled="0" ang="18300000"/>
        </a:gradFill>
        <a:effectLst/>
      </p:bgPr>
    </p:bg>
    <p:spTree>
      <p:nvGrpSpPr>
        <p:cNvPr id="1" name=""/>
        <p:cNvGrpSpPr/>
        <p:nvPr/>
      </p:nvGrpSpPr>
      <p:grpSpPr/>
      <p:sp>
        <p:nvSpPr>
          <p:cNvPr id="2" name="Rectangle 1"/>
          <p:cNvSpPr/>
          <p:nvPr/>
        </p:nvSpPr>
        <p:spPr>
          <a:xfrm>
            <a:off x="868680" y="840740"/>
            <a:ext cx="292608" cy="25400"/>
          </a:xfrm>
          <a:prstGeom prst="rect">
            <a:avLst/>
          </a:prstGeom>
          <a:solidFill>
            <a:srgbClr val="8C6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9304" y="777240"/>
            <a:ext cx="8686800" cy="320040"/>
          </a:xfrm>
          <a:prstGeom prst="rect">
            <a:avLst/>
          </a:prstGeom>
          <a:noFill/>
        </p:spPr>
        <p:txBody>
          <a:bodyPr wrap="square" anchor="t" lIns="0" rIns="0" tIns="0" bIns="0">
            <a:spAutoFit/>
          </a:bodyPr>
          <a:lstStyle/>
          <a:p>
            <a:pPr algn="l">
              <a:spcBef>
                <a:spcPts val="0"/>
              </a:spcBef>
              <a:spcAft>
                <a:spcPts val="0"/>
              </a:spcAft>
            </a:pPr>
            <a:r>
              <a:rPr sz="1150" b="1" i="0" spc="320">
                <a:solidFill>
                  <a:srgbClr val="8C6F45"/>
                </a:solidFill>
                <a:latin typeface="Hanken Grotesk"/>
              </a:rPr>
              <a:t>O ESTADO RESOLVIDO</a:t>
            </a:r>
          </a:p>
        </p:txBody>
      </p:sp>
      <p:sp>
        <p:nvSpPr>
          <p:cNvPr id="4" name="TextBox 3"/>
          <p:cNvSpPr txBox="1"/>
          <p:nvPr/>
        </p:nvSpPr>
        <p:spPr>
          <a:xfrm>
            <a:off x="868680" y="1325880"/>
            <a:ext cx="10332720" cy="1463040"/>
          </a:xfrm>
          <a:prstGeom prst="rect">
            <a:avLst/>
          </a:prstGeom>
          <a:noFill/>
        </p:spPr>
        <p:txBody>
          <a:bodyPr wrap="square" anchor="t" lIns="0" rIns="0" tIns="0" bIns="0">
            <a:spAutoFit/>
          </a:bodyPr>
          <a:lstStyle/>
          <a:p>
            <a:pPr algn="l">
              <a:lnSpc>
                <a:spcPct val="106000"/>
              </a:lnSpc>
              <a:spcBef>
                <a:spcPts val="0"/>
              </a:spcBef>
              <a:spcAft>
                <a:spcPts val="0"/>
              </a:spcAft>
            </a:pPr>
            <a:r>
              <a:rPr sz="3600" b="0" i="0">
                <a:solidFill>
                  <a:srgbClr val="211F1A"/>
                </a:solidFill>
                <a:latin typeface="Newsreader"/>
              </a:rPr>
              <a:t>O que acontece quando essas três perguntas estão </a:t>
            </a:r>
            <a:r>
              <a:rPr sz="3600" b="0" i="1">
                <a:solidFill>
                  <a:srgbClr val="8C6F45"/>
                </a:solidFill>
                <a:latin typeface="Newsreader"/>
              </a:rPr>
              <a:t>resolvidas?</a:t>
            </a:r>
          </a:p>
        </p:txBody>
      </p:sp>
      <p:sp>
        <p:nvSpPr>
          <p:cNvPr id="5" name="Rectangle 4"/>
          <p:cNvSpPr/>
          <p:nvPr/>
        </p:nvSpPr>
        <p:spPr>
          <a:xfrm>
            <a:off x="868680" y="3068320"/>
            <a:ext cx="201168" cy="30480"/>
          </a:xfrm>
          <a:prstGeom prst="rect">
            <a:avLst/>
          </a:prstGeom>
          <a:solidFill>
            <a:srgbClr val="8C6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52728" y="3017520"/>
            <a:ext cx="9692640" cy="548640"/>
          </a:xfrm>
          <a:prstGeom prst="rect">
            <a:avLst/>
          </a:prstGeom>
          <a:noFill/>
        </p:spPr>
        <p:txBody>
          <a:bodyPr wrap="square" anchor="t" lIns="0" rIns="0" tIns="0" bIns="0">
            <a:spAutoFit/>
          </a:bodyPr>
          <a:lstStyle/>
          <a:p>
            <a:pPr algn="l">
              <a:lnSpc>
                <a:spcPct val="105000"/>
              </a:lnSpc>
              <a:spcBef>
                <a:spcPts val="0"/>
              </a:spcBef>
              <a:spcAft>
                <a:spcPts val="0"/>
              </a:spcAft>
            </a:pPr>
            <a:r>
              <a:rPr sz="1750" b="0" i="0">
                <a:solidFill>
                  <a:srgbClr val="211F1A"/>
                </a:solidFill>
                <a:latin typeface="Newsreader"/>
              </a:rPr>
              <a:t>Inteligência institucionalizada, que não depende de quem está na sala.</a:t>
            </a:r>
          </a:p>
        </p:txBody>
      </p:sp>
      <p:sp>
        <p:nvSpPr>
          <p:cNvPr id="7" name="Rectangle 6"/>
          <p:cNvSpPr/>
          <p:nvPr/>
        </p:nvSpPr>
        <p:spPr>
          <a:xfrm>
            <a:off x="868680" y="3671824"/>
            <a:ext cx="201168" cy="30480"/>
          </a:xfrm>
          <a:prstGeom prst="rect">
            <a:avLst/>
          </a:prstGeom>
          <a:solidFill>
            <a:srgbClr val="8C6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52728" y="3621024"/>
            <a:ext cx="9692640" cy="548640"/>
          </a:xfrm>
          <a:prstGeom prst="rect">
            <a:avLst/>
          </a:prstGeom>
          <a:noFill/>
        </p:spPr>
        <p:txBody>
          <a:bodyPr wrap="square" anchor="t" lIns="0" rIns="0" tIns="0" bIns="0">
            <a:spAutoFit/>
          </a:bodyPr>
          <a:lstStyle/>
          <a:p>
            <a:pPr algn="l">
              <a:lnSpc>
                <a:spcPct val="105000"/>
              </a:lnSpc>
              <a:spcBef>
                <a:spcPts val="0"/>
              </a:spcBef>
              <a:spcAft>
                <a:spcPts val="0"/>
              </a:spcAft>
            </a:pPr>
            <a:r>
              <a:rPr sz="1750" b="0" i="0">
                <a:solidFill>
                  <a:srgbClr val="211F1A"/>
                </a:solidFill>
                <a:latin typeface="Newsreader"/>
              </a:rPr>
              <a:t>Mercado mapeado, com destino claro para cada operação.</a:t>
            </a:r>
          </a:p>
        </p:txBody>
      </p:sp>
      <p:sp>
        <p:nvSpPr>
          <p:cNvPr id="9" name="Rectangle 8"/>
          <p:cNvSpPr/>
          <p:nvPr/>
        </p:nvSpPr>
        <p:spPr>
          <a:xfrm>
            <a:off x="868680" y="4275328"/>
            <a:ext cx="201168" cy="30480"/>
          </a:xfrm>
          <a:prstGeom prst="rect">
            <a:avLst/>
          </a:prstGeom>
          <a:solidFill>
            <a:srgbClr val="8C6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52728" y="4224528"/>
            <a:ext cx="9692640" cy="548640"/>
          </a:xfrm>
          <a:prstGeom prst="rect">
            <a:avLst/>
          </a:prstGeom>
          <a:noFill/>
        </p:spPr>
        <p:txBody>
          <a:bodyPr wrap="square" anchor="t" lIns="0" rIns="0" tIns="0" bIns="0">
            <a:spAutoFit/>
          </a:bodyPr>
          <a:lstStyle/>
          <a:p>
            <a:pPr algn="l">
              <a:lnSpc>
                <a:spcPct val="105000"/>
              </a:lnSpc>
              <a:spcBef>
                <a:spcPts val="0"/>
              </a:spcBef>
              <a:spcAft>
                <a:spcPts val="0"/>
              </a:spcAft>
            </a:pPr>
            <a:r>
              <a:rPr sz="1750" b="0" i="0">
                <a:solidFill>
                  <a:srgbClr val="211F1A"/>
                </a:solidFill>
                <a:latin typeface="Newsreader"/>
              </a:rPr>
              <a:t>Capacidade de análise que escala sem inflar a equipe.</a:t>
            </a:r>
          </a:p>
        </p:txBody>
      </p:sp>
      <p:sp>
        <p:nvSpPr>
          <p:cNvPr id="11" name="Rectangle 10"/>
          <p:cNvSpPr/>
          <p:nvPr/>
        </p:nvSpPr>
        <p:spPr>
          <a:xfrm>
            <a:off x="868680" y="4878832"/>
            <a:ext cx="201168" cy="30480"/>
          </a:xfrm>
          <a:prstGeom prst="rect">
            <a:avLst/>
          </a:prstGeom>
          <a:solidFill>
            <a:srgbClr val="8C6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52728" y="4828032"/>
            <a:ext cx="9692640" cy="548640"/>
          </a:xfrm>
          <a:prstGeom prst="rect">
            <a:avLst/>
          </a:prstGeom>
          <a:noFill/>
        </p:spPr>
        <p:txBody>
          <a:bodyPr wrap="square" anchor="t" lIns="0" rIns="0" tIns="0" bIns="0">
            <a:spAutoFit/>
          </a:bodyPr>
          <a:lstStyle/>
          <a:p>
            <a:pPr algn="l">
              <a:lnSpc>
                <a:spcPct val="105000"/>
              </a:lnSpc>
              <a:spcBef>
                <a:spcPts val="0"/>
              </a:spcBef>
              <a:spcAft>
                <a:spcPts val="0"/>
              </a:spcAft>
            </a:pPr>
            <a:r>
              <a:rPr sz="1750" b="0" i="0">
                <a:solidFill>
                  <a:srgbClr val="211F1A"/>
                </a:solidFill>
                <a:latin typeface="Newsreader"/>
              </a:rPr>
              <a:t>Decisões mais consistentes e menos dependentes do indivíduo.</a:t>
            </a:r>
          </a:p>
        </p:txBody>
      </p:sp>
      <p:sp>
        <p:nvSpPr>
          <p:cNvPr id="13" name="Rectangle 12"/>
          <p:cNvSpPr/>
          <p:nvPr/>
        </p:nvSpPr>
        <p:spPr>
          <a:xfrm>
            <a:off x="868680" y="5482336"/>
            <a:ext cx="201168" cy="30480"/>
          </a:xfrm>
          <a:prstGeom prst="rect">
            <a:avLst/>
          </a:prstGeom>
          <a:solidFill>
            <a:srgbClr val="8C6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52728" y="5431536"/>
            <a:ext cx="9692640" cy="548640"/>
          </a:xfrm>
          <a:prstGeom prst="rect">
            <a:avLst/>
          </a:prstGeom>
          <a:noFill/>
        </p:spPr>
        <p:txBody>
          <a:bodyPr wrap="square" anchor="t" lIns="0" rIns="0" tIns="0" bIns="0">
            <a:spAutoFit/>
          </a:bodyPr>
          <a:lstStyle/>
          <a:p>
            <a:pPr algn="l">
              <a:lnSpc>
                <a:spcPct val="105000"/>
              </a:lnSpc>
              <a:spcBef>
                <a:spcPts val="0"/>
              </a:spcBef>
              <a:spcAft>
                <a:spcPts val="0"/>
              </a:spcAft>
            </a:pPr>
            <a:r>
              <a:rPr sz="1750" b="0" i="0">
                <a:solidFill>
                  <a:srgbClr val="211F1A"/>
                </a:solidFill>
                <a:latin typeface="Newsreader"/>
              </a:rPr>
              <a:t>Mais capacidade de execução, com o critério da casa preservado.</a:t>
            </a:r>
          </a:p>
        </p:txBody>
      </p:sp>
      <p:sp>
        <p:nvSpPr>
          <p:cNvPr id="15" name="Rectangle 14"/>
          <p:cNvSpPr/>
          <p:nvPr/>
        </p:nvSpPr>
        <p:spPr>
          <a:xfrm>
            <a:off x="640080" y="6291072"/>
            <a:ext cx="36576" cy="182880"/>
          </a:xfrm>
          <a:prstGeom prst="rect">
            <a:avLst/>
          </a:prstGeom>
          <a:solidFill>
            <a:srgbClr val="21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6874" y="6291072"/>
            <a:ext cx="36576" cy="182880"/>
          </a:xfrm>
          <a:prstGeom prst="rect">
            <a:avLst/>
          </a:prstGeom>
          <a:solidFill>
            <a:srgbClr val="21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683971" y="6291072"/>
            <a:ext cx="85588" cy="182880"/>
          </a:xfrm>
          <a:custGeom>
            <a:avLst/>
            <a:gdLst/>
            <a:ahLst/>
            <a:cxnLst/>
            <a:rect l="l" t="t" r="r" b="b"/>
            <a:pathLst>
              <a:path w="85588" h="182880">
                <a:moveTo>
                  <a:pt x="49012" y="0"/>
                </a:moveTo>
                <a:lnTo>
                  <a:pt x="85588" y="0"/>
                </a:lnTo>
                <a:lnTo>
                  <a:pt x="36576" y="182880"/>
                </a:lnTo>
                <a:lnTo>
                  <a:pt x="0" y="182880"/>
                </a:lnTo>
                <a:close/>
              </a:path>
            </a:pathLst>
          </a:custGeom>
          <a:solidFill>
            <a:srgbClr val="21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65672"/>
            <a:ext cx="4572000" cy="274320"/>
          </a:xfrm>
          <a:prstGeom prst="rect">
            <a:avLst/>
          </a:prstGeom>
          <a:noFill/>
        </p:spPr>
        <p:txBody>
          <a:bodyPr wrap="square" anchor="t" lIns="0" rIns="0" tIns="0" bIns="0">
            <a:spAutoFit/>
          </a:bodyPr>
          <a:lstStyle/>
          <a:p>
            <a:pPr algn="l">
              <a:spcBef>
                <a:spcPts val="0"/>
              </a:spcBef>
              <a:spcAft>
                <a:spcPts val="0"/>
              </a:spcAft>
            </a:pPr>
            <a:r>
              <a:rPr sz="1000" b="1" i="0" spc="300">
                <a:solidFill>
                  <a:srgbClr val="5E5A53"/>
                </a:solidFill>
                <a:latin typeface="Hanken Grotesk"/>
              </a:rPr>
              <a:t>MANDOR</a:t>
            </a:r>
          </a:p>
        </p:txBody>
      </p:sp>
      <p:sp>
        <p:nvSpPr>
          <p:cNvPr id="19" name="TextBox 18"/>
          <p:cNvSpPr txBox="1"/>
          <p:nvPr/>
        </p:nvSpPr>
        <p:spPr>
          <a:xfrm>
            <a:off x="10180015" y="6265672"/>
            <a:ext cx="1371600" cy="274320"/>
          </a:xfrm>
          <a:prstGeom prst="rect">
            <a:avLst/>
          </a:prstGeom>
          <a:noFill/>
        </p:spPr>
        <p:txBody>
          <a:bodyPr wrap="square" anchor="t" lIns="0" rIns="0" tIns="0" bIns="0">
            <a:spAutoFit/>
          </a:bodyPr>
          <a:lstStyle/>
          <a:p>
            <a:pPr algn="r">
              <a:spcBef>
                <a:spcPts val="0"/>
              </a:spcBef>
              <a:spcAft>
                <a:spcPts val="0"/>
              </a:spcAft>
            </a:pPr>
            <a:r>
              <a:rPr sz="1000" b="0" i="0" spc="200">
                <a:solidFill>
                  <a:srgbClr val="5E5A53"/>
                </a:solidFill>
                <a:latin typeface="Hanken Grotesk"/>
              </a:rPr>
              <a:t>05 / 06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gradFill rotWithShape="1">
          <a:gsLst>
            <a:gs pos="0">
              <a:srgbClr val="221B13"/>
            </a:gs>
            <a:gs pos="100000">
              <a:srgbClr val="18140F"/>
            </a:gs>
          </a:gsLst>
          <a:lin scaled="0" ang="18300000"/>
        </a:gradFill>
        <a:effectLst/>
      </p:bgPr>
    </p:bg>
    <p:spTree>
      <p:nvGrpSpPr>
        <p:cNvPr id="1" name=""/>
        <p:cNvGrpSpPr/>
        <p:nvPr/>
      </p:nvGrpSpPr>
      <p:grpSpPr/>
      <p:sp>
        <p:nvSpPr>
          <p:cNvPr id="2" name="Rectangle 1"/>
          <p:cNvSpPr/>
          <p:nvPr/>
        </p:nvSpPr>
        <p:spPr>
          <a:xfrm>
            <a:off x="868680" y="840740"/>
            <a:ext cx="292608" cy="25400"/>
          </a:xfrm>
          <a:prstGeom prst="rect">
            <a:avLst/>
          </a:prstGeom>
          <a:solidFill>
            <a:srgbClr val="C0A2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9304" y="777240"/>
            <a:ext cx="8686800" cy="320040"/>
          </a:xfrm>
          <a:prstGeom prst="rect">
            <a:avLst/>
          </a:prstGeom>
          <a:noFill/>
        </p:spPr>
        <p:txBody>
          <a:bodyPr wrap="square" anchor="t" lIns="0" rIns="0" tIns="0" bIns="0">
            <a:spAutoFit/>
          </a:bodyPr>
          <a:lstStyle/>
          <a:p>
            <a:pPr algn="l">
              <a:spcBef>
                <a:spcPts val="0"/>
              </a:spcBef>
              <a:spcAft>
                <a:spcPts val="0"/>
              </a:spcAft>
            </a:pPr>
            <a:r>
              <a:rPr sz="1150" b="1" i="0" spc="320">
                <a:solidFill>
                  <a:srgbClr val="C0A26C"/>
                </a:solidFill>
                <a:latin typeface="Hanken Grotesk"/>
              </a:rPr>
              <a:t>POR QUE EXISTIMOS</a:t>
            </a:r>
          </a:p>
        </p:txBody>
      </p:sp>
      <p:sp>
        <p:nvSpPr>
          <p:cNvPr id="4" name="Rectangle 3"/>
          <p:cNvSpPr/>
          <p:nvPr/>
        </p:nvSpPr>
        <p:spPr>
          <a:xfrm>
            <a:off x="868680" y="1417320"/>
            <a:ext cx="113385" cy="566928"/>
          </a:xfrm>
          <a:prstGeom prst="rect">
            <a:avLst/>
          </a:prstGeom>
          <a:solidFill>
            <a:srgbClr val="ED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92742" y="1417320"/>
            <a:ext cx="113385" cy="566928"/>
          </a:xfrm>
          <a:prstGeom prst="rect">
            <a:avLst/>
          </a:prstGeom>
          <a:solidFill>
            <a:srgbClr val="ED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004742" y="1417320"/>
            <a:ext cx="265323" cy="566928"/>
          </a:xfrm>
          <a:custGeom>
            <a:avLst/>
            <a:gdLst/>
            <a:ahLst/>
            <a:cxnLst/>
            <a:rect l="l" t="t" r="r" b="b"/>
            <a:pathLst>
              <a:path w="265323" h="566928">
                <a:moveTo>
                  <a:pt x="151937" y="0"/>
                </a:moveTo>
                <a:lnTo>
                  <a:pt x="265323" y="0"/>
                </a:lnTo>
                <a:lnTo>
                  <a:pt x="113386" y="566928"/>
                </a:lnTo>
                <a:lnTo>
                  <a:pt x="0" y="566928"/>
                </a:lnTo>
                <a:close/>
              </a:path>
            </a:pathLst>
          </a:custGeom>
          <a:solidFill>
            <a:srgbClr val="ED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81912" y="1417320"/>
            <a:ext cx="5486400" cy="548640"/>
          </a:xfrm>
          <a:prstGeom prst="rect">
            <a:avLst/>
          </a:prstGeom>
          <a:noFill/>
        </p:spPr>
        <p:txBody>
          <a:bodyPr wrap="square" anchor="t" lIns="0" rIns="0" tIns="0" bIns="0">
            <a:spAutoFit/>
          </a:bodyPr>
          <a:lstStyle/>
          <a:p>
            <a:pPr algn="l">
              <a:spcBef>
                <a:spcPts val="0"/>
              </a:spcBef>
              <a:spcAft>
                <a:spcPts val="0"/>
              </a:spcAft>
            </a:pPr>
            <a:r>
              <a:rPr sz="3000" b="0" i="0" spc="620">
                <a:solidFill>
                  <a:srgbClr val="EDE9E5"/>
                </a:solidFill>
                <a:latin typeface="Newsreader"/>
              </a:rPr>
              <a:t>MANDOR</a:t>
            </a:r>
          </a:p>
        </p:txBody>
      </p:sp>
      <p:sp>
        <p:nvSpPr>
          <p:cNvPr id="8" name="TextBox 7"/>
          <p:cNvSpPr txBox="1"/>
          <p:nvPr/>
        </p:nvSpPr>
        <p:spPr>
          <a:xfrm>
            <a:off x="868680" y="2468880"/>
            <a:ext cx="10058400" cy="914400"/>
          </a:xfrm>
          <a:prstGeom prst="rect">
            <a:avLst/>
          </a:prstGeom>
          <a:noFill/>
        </p:spPr>
        <p:txBody>
          <a:bodyPr wrap="square" anchor="t" lIns="0" rIns="0" tIns="0" bIns="0">
            <a:spAutoFit/>
          </a:bodyPr>
          <a:lstStyle/>
          <a:p>
            <a:pPr algn="l">
              <a:lnSpc>
                <a:spcPct val="105000"/>
              </a:lnSpc>
              <a:spcBef>
                <a:spcPts val="0"/>
              </a:spcBef>
              <a:spcAft>
                <a:spcPts val="0"/>
              </a:spcAft>
            </a:pPr>
            <a:r>
              <a:rPr sz="3400" b="0" i="0">
                <a:solidFill>
                  <a:srgbClr val="EDE9E5"/>
                </a:solidFill>
                <a:latin typeface="Newsreader"/>
              </a:rPr>
              <a:t>Por que começamos a construir </a:t>
            </a:r>
            <a:r>
              <a:rPr sz="3400" b="0" i="1">
                <a:solidFill>
                  <a:srgbClr val="C0A26C"/>
                </a:solidFill>
                <a:latin typeface="Newsreader"/>
              </a:rPr>
              <a:t>o Mandor</a:t>
            </a:r>
          </a:p>
        </p:txBody>
      </p:sp>
      <p:sp>
        <p:nvSpPr>
          <p:cNvPr id="9" name="TextBox 8"/>
          <p:cNvSpPr txBox="1"/>
          <p:nvPr/>
        </p:nvSpPr>
        <p:spPr>
          <a:xfrm>
            <a:off x="868680" y="3520440"/>
            <a:ext cx="9784080" cy="2103120"/>
          </a:xfrm>
          <a:prstGeom prst="rect">
            <a:avLst/>
          </a:prstGeom>
          <a:noFill/>
        </p:spPr>
        <p:txBody>
          <a:bodyPr wrap="square" anchor="t" lIns="0" rIns="0" tIns="0" bIns="0">
            <a:spAutoFit/>
          </a:bodyPr>
          <a:lstStyle/>
          <a:p>
            <a:pPr algn="l">
              <a:lnSpc>
                <a:spcPct val="130000"/>
              </a:lnSpc>
              <a:spcBef>
                <a:spcPts val="0"/>
              </a:spcBef>
              <a:spcAft>
                <a:spcPts val="0"/>
              </a:spcAft>
            </a:pPr>
            <a:r>
              <a:rPr sz="1650" b="0" i="0">
                <a:solidFill>
                  <a:srgbClr val="B7B0A6"/>
                </a:solidFill>
                <a:latin typeface="Newsreader"/>
              </a:rPr>
              <a:t>Vimos esse padrão se repetir, instituição após instituição. O conhecimento que não fica quando alguém sai. O mercado que ainda depende de quem se conhece. A análise que não acompanha o volume.</a:t>
            </a:r>
          </a:p>
          <a:p>
            <a:pPr algn="l">
              <a:lnSpc>
                <a:spcPct val="130000"/>
              </a:lnSpc>
              <a:spcBef>
                <a:spcPts val="1200"/>
              </a:spcBef>
              <a:spcAft>
                <a:spcPts val="0"/>
              </a:spcAft>
            </a:pPr>
            <a:r>
              <a:rPr sz="1650" b="0" i="0">
                <a:solidFill>
                  <a:srgbClr val="EDE9E5"/>
                </a:solidFill>
                <a:latin typeface="Newsreader"/>
              </a:rPr>
              <a:t>O Mandor</a:t>
            </a:r>
            <a:r>
              <a:rPr sz="1650" b="0" i="0">
                <a:solidFill>
                  <a:srgbClr val="EDE9E5"/>
                </a:solidFill>
                <a:latin typeface="Newsreader"/>
              </a:rPr>
              <a:t> nasceu dessa observação. Uma rede cognitiva para que método, mercado e capacidade de análise deixem de viver em indivíduos e passem a pertencer à instituição.</a:t>
            </a:r>
          </a:p>
        </p:txBody>
      </p:sp>
      <p:sp>
        <p:nvSpPr>
          <p:cNvPr id="10" name="TextBox 9"/>
          <p:cNvSpPr txBox="1"/>
          <p:nvPr/>
        </p:nvSpPr>
        <p:spPr>
          <a:xfrm>
            <a:off x="868680" y="5760720"/>
            <a:ext cx="7315200" cy="457200"/>
          </a:xfrm>
          <a:prstGeom prst="rect">
            <a:avLst/>
          </a:prstGeom>
          <a:noFill/>
        </p:spPr>
        <p:txBody>
          <a:bodyPr wrap="square" anchor="t" lIns="0" rIns="0" tIns="0" bIns="0">
            <a:spAutoFit/>
          </a:bodyPr>
          <a:lstStyle/>
          <a:p>
            <a:pPr algn="l">
              <a:spcBef>
                <a:spcPts val="0"/>
              </a:spcBef>
              <a:spcAft>
                <a:spcPts val="0"/>
              </a:spcAft>
            </a:pPr>
            <a:r>
              <a:rPr sz="1600" b="1" i="0" spc="120">
                <a:solidFill>
                  <a:srgbClr val="C0A26C"/>
                </a:solidFill>
                <a:latin typeface="Hanken Grotesk"/>
              </a:rPr>
              <a:t>www.mandor.com.br</a:t>
            </a:r>
          </a:p>
        </p:txBody>
      </p:sp>
      <p:sp>
        <p:nvSpPr>
          <p:cNvPr id="11" name="Rectangle 10"/>
          <p:cNvSpPr/>
          <p:nvPr/>
        </p:nvSpPr>
        <p:spPr>
          <a:xfrm>
            <a:off x="640080" y="6291072"/>
            <a:ext cx="36576" cy="182880"/>
          </a:xfrm>
          <a:prstGeom prst="rect">
            <a:avLst/>
          </a:prstGeom>
          <a:solidFill>
            <a:srgbClr val="ED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6874" y="6291072"/>
            <a:ext cx="36576" cy="182880"/>
          </a:xfrm>
          <a:prstGeom prst="rect">
            <a:avLst/>
          </a:prstGeom>
          <a:solidFill>
            <a:srgbClr val="ED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683971" y="6291072"/>
            <a:ext cx="85588" cy="182880"/>
          </a:xfrm>
          <a:custGeom>
            <a:avLst/>
            <a:gdLst/>
            <a:ahLst/>
            <a:cxnLst/>
            <a:rect l="l" t="t" r="r" b="b"/>
            <a:pathLst>
              <a:path w="85588" h="182880">
                <a:moveTo>
                  <a:pt x="49012" y="0"/>
                </a:moveTo>
                <a:lnTo>
                  <a:pt x="85588" y="0"/>
                </a:lnTo>
                <a:lnTo>
                  <a:pt x="36576" y="182880"/>
                </a:lnTo>
                <a:lnTo>
                  <a:pt x="0" y="182880"/>
                </a:lnTo>
                <a:close/>
              </a:path>
            </a:pathLst>
          </a:custGeom>
          <a:solidFill>
            <a:srgbClr val="ED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6265672"/>
            <a:ext cx="4572000" cy="274320"/>
          </a:xfrm>
          <a:prstGeom prst="rect">
            <a:avLst/>
          </a:prstGeom>
          <a:noFill/>
        </p:spPr>
        <p:txBody>
          <a:bodyPr wrap="square" anchor="t" lIns="0" rIns="0" tIns="0" bIns="0">
            <a:spAutoFit/>
          </a:bodyPr>
          <a:lstStyle/>
          <a:p>
            <a:pPr algn="l">
              <a:spcBef>
                <a:spcPts val="0"/>
              </a:spcBef>
              <a:spcAft>
                <a:spcPts val="0"/>
              </a:spcAft>
            </a:pPr>
            <a:r>
              <a:rPr sz="1000" b="1" i="0" spc="300">
                <a:solidFill>
                  <a:srgbClr val="B7B0A6"/>
                </a:solidFill>
                <a:latin typeface="Hanken Grotesk"/>
              </a:rPr>
              <a:t>MANDOR</a:t>
            </a:r>
          </a:p>
        </p:txBody>
      </p:sp>
      <p:sp>
        <p:nvSpPr>
          <p:cNvPr id="15" name="TextBox 14"/>
          <p:cNvSpPr txBox="1"/>
          <p:nvPr/>
        </p:nvSpPr>
        <p:spPr>
          <a:xfrm>
            <a:off x="10180015" y="6265672"/>
            <a:ext cx="1371600" cy="274320"/>
          </a:xfrm>
          <a:prstGeom prst="rect">
            <a:avLst/>
          </a:prstGeom>
          <a:noFill/>
        </p:spPr>
        <p:txBody>
          <a:bodyPr wrap="square" anchor="t" lIns="0" rIns="0" tIns="0" bIns="0">
            <a:spAutoFit/>
          </a:bodyPr>
          <a:lstStyle/>
          <a:p>
            <a:pPr algn="r">
              <a:spcBef>
                <a:spcPts val="0"/>
              </a:spcBef>
              <a:spcAft>
                <a:spcPts val="0"/>
              </a:spcAft>
            </a:pPr>
            <a:r>
              <a:rPr sz="1000" b="0" i="0" spc="200">
                <a:solidFill>
                  <a:srgbClr val="B7B0A6"/>
                </a:solidFill>
                <a:latin typeface="Hanken Grotesk"/>
              </a:rPr>
              <a:t>06 / 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