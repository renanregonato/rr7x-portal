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ANCORAS (fale com suas palavras, nao decore)</a:t>
            </a:r>
          </a:p>
          <a:p>
            <a:r>
              <a:t>• Abrir SEM slide na cabeça: o laptop já está logado no painel, em segundo plano.</a:t>
            </a:r>
          </a:p>
          <a:p>
            <a:r>
              <a:t>• Reconhecer a autoridade dos dois sem bajular: Alexandre, 22 anos estruturando para empresário premium; Jamerson, a frente jurídica e de palco.</a:t>
            </a:r>
          </a:p>
          <a:p>
            <a:r>
              <a:t>• Sinalizar que o tempo é deles: 30 minutos, você vai direto.</a:t>
            </a:r>
          </a:p>
          <a:p>
            <a:r>
              <a:t>• Pedir permissão para começar pelo diagnóstico, não pela ferramenta. Postura de par.</a:t>
            </a:r>
          </a:p>
          <a:p>
            <a:r>
              <a:t>• Frase-guia (com suas palavras): 'em vez de apresentar, queria começar entendendo onde a Assis perde mais tempo hoje, e mostrar onde o Mandor encaixa.'</a:t>
            </a:r>
          </a:p>
          <a:p/>
          <a:p>
            <a:pPr>
              <a:defRPr b="1"/>
            </a:pPr>
            <a:r>
              <a:t>FAZER</a:t>
            </a:r>
          </a:p>
          <a:p>
            <a:r>
              <a:t>+ Falar devagar. Deixar silêncio depois das perguntas.</a:t>
            </a:r>
          </a:p>
          <a:p>
            <a:r>
              <a:t>+ Deixar claro que você não veio vender, veio propor rodar junto.</a:t>
            </a:r>
          </a:p>
          <a:p/>
          <a:p>
            <a:pPr>
              <a:defRPr b="1"/>
            </a:pPr>
            <a:r>
              <a:t>NAO FAZER</a:t>
            </a:r>
          </a:p>
          <a:p>
            <a:r>
              <a:t>x Abrir com a história de como o Mandor nasceu.</a:t>
            </a:r>
          </a:p>
          <a:p>
            <a:r>
              <a:t>x Dizer 'obrigado pela oportunidade' (registro de vendedor pedindo audiência).</a:t>
            </a:r>
          </a:p>
          <a:p>
            <a:r>
              <a:t>x Chamar o Mandor de plataforma, ferramenta ou software. É rede cognitiva.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ANCORAS (fale com suas palavras, nao decore)</a:t>
            </a:r>
          </a:p>
          <a:p>
            <a:r>
              <a:t>• Este é o slide mais forte da reunião: prova que você estudou a Assis, e que não promete demais.</a:t>
            </a:r>
          </a:p>
          <a:p>
            <a:r>
              <a:t>• Dizer abertamente: 'sete dos doze serviços de vocês o Mandor não toca. Continuam sendo vocês.'</a:t>
            </a:r>
          </a:p>
          <a:p>
            <a:r>
              <a:t>• Os cinco que batem são justamente os mais transacionais e de maior margem da Assis.</a:t>
            </a:r>
          </a:p>
          <a:p>
            <a:r>
              <a:t>• O enquadramento: o Mandor não substitui a Assis, amplifica a capacidade nos cinco e libera a equipe para os outros sete.</a:t>
            </a:r>
          </a:p>
          <a:p>
            <a:r>
              <a:t>• Inverte o jogo: você não pede para vender, você identificou onde dá para trabalhar junto.</a:t>
            </a:r>
          </a:p>
          <a:p/>
          <a:p>
            <a:pPr>
              <a:defRPr b="1"/>
            </a:pPr>
            <a:r>
              <a:t>FAZER</a:t>
            </a:r>
          </a:p>
          <a:p>
            <a:r>
              <a:t>+ Se ele perguntar 'e a profundidade dos cinco?', responder: a diferença não é profundidade, é velocidade com a profundidade preservada. A autoria continua sendo da Assis.</a:t>
            </a:r>
          </a:p>
          <a:p>
            <a:r>
              <a:t>+ Conectar ao caso real deles (ex.: Avantgarde) se você souber quais dos cinco a operação usou.</a:t>
            </a:r>
          </a:p>
          <a:p/>
          <a:p>
            <a:pPr>
              <a:defRPr b="1"/>
            </a:pPr>
            <a:r>
              <a:t>NAO FAZER</a:t>
            </a:r>
          </a:p>
          <a:p>
            <a:r>
              <a:t>x Dizer que o Mandor cobre os 12. Ele testa item por item e você perde o frame.</a:t>
            </a:r>
          </a:p>
          <a:p>
            <a:r>
              <a:t>x Entrar em detalhe de cada um dos sete. Só nomeie e siga.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ANCORAS (fale com suas palavras, nao decore)</a:t>
            </a:r>
          </a:p>
          <a:p>
            <a:r>
              <a:t>• Apresentar as três como perguntas honestas de quem cresce, não como falhas. Não usar dor, problema, gargalo.</a:t>
            </a:r>
          </a:p>
          <a:p>
            <a:r>
              <a:t>• 01 memória institucional: em 22 anos, quanto do método vive na cabeça da equipe sênior e quanto fica na casa?</a:t>
            </a:r>
          </a:p>
          <a:p>
            <a:r>
              <a:t>• 02 originação: quantos deals dependeram do sócio bater no telefone para achar o comprador certo?</a:t>
            </a:r>
          </a:p>
          <a:p>
            <a:r>
              <a:t>• 03 escala: se desse para dar parecer rápido com o rigor da própria mesa, quantos deals a mais entrariam no funil?</a:t>
            </a:r>
          </a:p>
          <a:p>
            <a:r>
              <a:t>• Cada pergunta é de validação: deixe ELES responderem. Quanto mais eles falam, melhor.</a:t>
            </a:r>
          </a:p>
          <a:p>
            <a:r>
              <a:t>• Transição para a demo: 'os três pontos que vocês descreveram são os que o Mandor foi construído para responder. Posso mostrar, sem deck?'</a:t>
            </a:r>
          </a:p>
          <a:p/>
          <a:p>
            <a:pPr>
              <a:defRPr b="1"/>
            </a:pPr>
            <a:r>
              <a:t>FAZER</a:t>
            </a:r>
          </a:p>
          <a:p>
            <a:r>
              <a:t>+ Se ele recusar uma das perguntas ('isso está resolvido aqui'), aceitar e seguir para a próxima. Não insistir.</a:t>
            </a:r>
          </a:p>
          <a:p/>
          <a:p>
            <a:pPr>
              <a:defRPr b="1"/>
            </a:pPr>
            <a:r>
              <a:t>NAO FAZER</a:t>
            </a:r>
          </a:p>
          <a:p>
            <a:r>
              <a:t>x Pitchar a solução em cima da pergunta. Aqui só se abre o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ANCORAS (fale com suas palavras, nao decore)</a:t>
            </a:r>
          </a:p>
          <a:p>
            <a:r>
              <a:t>• AQUI VOCÊ SAI DOS SLIDES E VAI PARA O PAINEL. Veja a folha 'Mapa da Reunião' para o caminho exato da demo.</a:t>
            </a:r>
          </a:p>
          <a:p>
            <a:r>
              <a:t>• Demo ancorada nos 3 gargalos, na mesma ordem (cerca de 10 minutos, sem voltar ao deck).</a:t>
            </a:r>
          </a:p>
          <a:p>
            <a:r>
              <a:t>• Gargalo 01 -&gt; aba Aprendizados do escritório + Benchmarks (o método e o critério ficam na casa).</a:t>
            </a:r>
          </a:p>
          <a:p>
            <a:r>
              <a:t>• Gargalo 02 -&gt; Invest Match do Lumina (LEIA OS NOMES NA TELA, não decore: são investidores de saúde/PE, com score e justificativa).</a:t>
            </a:r>
          </a:p>
          <a:p>
            <a:r>
              <a:t>• Gargalo 03 -&gt; Dossiê do Lumina: DRS 83/100, valuation, riscos, comprador mapeado, teaser. Cada conclusão com fonte e página (lineage).</a:t>
            </a:r>
          </a:p>
          <a:p>
            <a:r>
              <a:t>• O dossiê é o momento de decisão: navegue devagar para ele ler trechos.</a:t>
            </a:r>
          </a:p>
          <a:p/>
          <a:p>
            <a:pPr>
              <a:defRPr b="1"/>
            </a:pPr>
            <a:r>
              <a:t>FAZER</a:t>
            </a:r>
          </a:p>
          <a:p>
            <a:r>
              <a:t>+ Antes da reunião: abrir o Lumina no painel e confirmar que Invest Match, Benchmarks e Dossiê carregam. A demo foi re-semeada hoje.</a:t>
            </a:r>
          </a:p>
          <a:p/>
          <a:p>
            <a:pPr>
              <a:defRPr b="1"/>
            </a:pPr>
            <a:r>
              <a:t>NAO FAZER</a:t>
            </a:r>
          </a:p>
          <a:p>
            <a:r>
              <a:t>x Recitar 'Kinea 92, Pátria 91'. Esses eram de outro deal (crédito). No Lumina os nomes são outros: leia 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ANCORAS (fale com suas palavras, nao decore)</a:t>
            </a:r>
          </a:p>
          <a:p>
            <a:r>
              <a:t>• Mudar o tom: do diagnóstico para a imagem do estado desejado. Descrever, não prometer.</a:t>
            </a:r>
          </a:p>
          <a:p>
            <a:r>
              <a:t>• Deixe que eles se projetem nessa imagem depois de terem visto a demo.</a:t>
            </a:r>
          </a:p>
          <a:p>
            <a:r>
              <a:t>• Amarra a autoria: a velocidade é do Mandor, o critério e a assinatura continuam sendo da Assis.</a:t>
            </a:r>
          </a:p>
          <a:p>
            <a:r>
              <a:t>• É a ponte natural para o próximo passo.</a:t>
            </a:r>
          </a:p>
          <a:p/>
          <a:p>
            <a:pPr>
              <a:defRPr b="1"/>
            </a:pPr>
            <a:r>
              <a:t>NAO FAZER</a:t>
            </a:r>
          </a:p>
          <a:p>
            <a:r>
              <a:t>x Prometer resultado de receita ou número. Aqui é estado, não promessa.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ANCORAS (fale com suas palavras, nao decore)</a:t>
            </a:r>
          </a:p>
          <a:p>
            <a:r>
              <a:t>• O pedido é só o piloto. NADA de número (preço ou comissão) nesta reunião.</a:t>
            </a:r>
          </a:p>
          <a:p>
            <a:r>
              <a:t>• Se perguntarem de valores: 'o desenho comercial a gente fecha depois que vocês virem rodando sobre um caso de vocês'.</a:t>
            </a:r>
          </a:p>
          <a:p>
            <a:r>
              <a:t>• Pedir um caso anonimizado, de preferência do tier premium (ex.: algo no perfil Avantgarde).</a:t>
            </a:r>
          </a:p>
          <a:p>
            <a:r>
              <a:t>• Combinar a call de dez dias ali, com data tentativa.</a:t>
            </a:r>
          </a:p>
          <a:p>
            <a:r>
              <a:t>• Se ele pedir tempo, aceitar e propor mandar o NDA já, para destravar quando decidirem.</a:t>
            </a:r>
          </a:p>
          <a:p/>
          <a:p>
            <a:pPr>
              <a:defRPr b="1"/>
            </a:pPr>
            <a:r>
              <a:t>FAZER</a:t>
            </a:r>
          </a:p>
          <a:p>
            <a:r>
              <a:t>+ Sair com: caso anonimizado prometido, call agendada, NDA combinado.</a:t>
            </a:r>
          </a:p>
          <a:p/>
          <a:p>
            <a:pPr>
              <a:defRPr b="1"/>
            </a:pPr>
            <a:r>
              <a:t>NAO FAZER</a:t>
            </a:r>
          </a:p>
          <a:p>
            <a:r>
              <a:t>x Forçar fechamento. Sênior que sente pressão fecha a porta. Relação intacta vale mais que um sim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ANCORAS (fale com suas palavras, nao decore)</a:t>
            </a:r>
          </a:p>
          <a:p>
            <a:r>
              <a:t>• Fechar devolvendo a palavra a eles. Postura de par até o fim.</a:t>
            </a:r>
          </a:p>
          <a:p>
            <a:r>
              <a:t>• Se a relação ficou boa mas sem sim, está ótimo: o objetivo é virar aliado institucional, não fechar hoje.</a:t>
            </a:r>
          </a:p>
          <a:p>
            <a:r>
              <a:t>• Cartão no bolso, NDA pronto para enviar no mesmo dia se aceitarem 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21B13"/>
            </a:gs>
            <a:gs pos="100000">
              <a:srgbClr val="18140F"/>
            </a:gs>
          </a:gsLst>
          <a:lin scaled="0" ang="183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325880"/>
            <a:ext cx="120700" cy="603504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20100" y="1325880"/>
            <a:ext cx="120700" cy="603504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13520" y="1325880"/>
            <a:ext cx="282440" cy="603504"/>
          </a:xfrm>
          <a:custGeom>
            <a:avLst/>
            <a:gdLst/>
            <a:ahLst/>
            <a:cxnLst/>
            <a:rect l="l" t="t" r="r" b="b"/>
            <a:pathLst>
              <a:path w="282440" h="603504">
                <a:moveTo>
                  <a:pt x="161740" y="0"/>
                </a:moveTo>
                <a:lnTo>
                  <a:pt x="282440" y="0"/>
                </a:lnTo>
                <a:lnTo>
                  <a:pt x="120701" y="603504"/>
                </a:lnTo>
                <a:lnTo>
                  <a:pt x="0" y="603504"/>
                </a:lnTo>
                <a:close/>
              </a:path>
            </a:pathLst>
          </a:cu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8488" y="137160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 spc="620">
                <a:solidFill>
                  <a:srgbClr val="EDE9E5"/>
                </a:solidFill>
                <a:latin typeface="Newsreader"/>
              </a:rPr>
              <a:t>MANDOR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60980"/>
            <a:ext cx="292608" cy="25400"/>
          </a:xfrm>
          <a:prstGeom prst="rect">
            <a:avLst/>
          </a:prstGeom>
          <a:solidFill>
            <a:srgbClr val="C0A2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9304" y="269748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320">
                <a:solidFill>
                  <a:srgbClr val="C0A26C"/>
                </a:solidFill>
                <a:latin typeface="Hanken Grotesk"/>
              </a:rPr>
              <a:t>CONVERSA INSTITUCIONAL  ·  ASSIS GESTÃO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EDE9E5"/>
                </a:solidFill>
                <a:latin typeface="Newsreader"/>
              </a:rPr>
              <a:t>Infraestrutura analítica institucional para </a:t>
            </a:r>
            <a:r>
              <a:rPr sz="4000" b="0" i="1">
                <a:solidFill>
                  <a:srgbClr val="C0A26C"/>
                </a:solidFill>
                <a:latin typeface="Newsreader"/>
              </a:rPr>
              <a:t>capital privado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920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B7B0A6"/>
                </a:solidFill>
                <a:latin typeface="Newsreader"/>
              </a:rPr>
              <a:t>Onde o Mandor amplifica a operação da Assis, e onde não. Uma conversa antes de qualquer demonstração.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291072"/>
            <a:ext cx="36576" cy="18288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6874" y="6291072"/>
            <a:ext cx="36576" cy="18288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83971" y="6291072"/>
            <a:ext cx="85588" cy="182880"/>
          </a:xfrm>
          <a:custGeom>
            <a:avLst/>
            <a:gdLst/>
            <a:ahLst/>
            <a:cxnLst/>
            <a:rect l="l" t="t" r="r" b="b"/>
            <a:pathLst>
              <a:path w="85588" h="182880">
                <a:moveTo>
                  <a:pt x="49012" y="0"/>
                </a:moveTo>
                <a:lnTo>
                  <a:pt x="85588" y="0"/>
                </a:lnTo>
                <a:lnTo>
                  <a:pt x="36576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6265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80">
                <a:solidFill>
                  <a:srgbClr val="B7B0A6"/>
                </a:solidFill>
                <a:latin typeface="Hanken Grotesk"/>
              </a:rPr>
              <a:t>MANDOR  ·  ASSIS GESTÃO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2656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B7B0A6"/>
                </a:solidFill>
                <a:latin typeface="Hanken Grotesk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DE9E5"/>
            </a:gs>
            <a:gs pos="100000">
              <a:srgbClr val="E2DBD1"/>
            </a:gs>
          </a:gsLst>
          <a:lin scaled="0" ang="183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840740"/>
            <a:ext cx="292608" cy="2540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9304" y="7772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320">
                <a:solidFill>
                  <a:srgbClr val="8C6F45"/>
                </a:solidFill>
                <a:latin typeface="Hanken Grotesk"/>
              </a:rPr>
              <a:t>ONDE O MANDOR ENCAIXA NA ASSIS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211F1A"/>
                </a:solidFill>
                <a:latin typeface="Newsreader"/>
              </a:rPr>
              <a:t>Dos 12 serviços da Assis, o Mandor amplifica </a:t>
            </a:r>
            <a:r>
              <a:rPr sz="3100" b="0" i="1">
                <a:solidFill>
                  <a:srgbClr val="8C6F45"/>
                </a:solidFill>
                <a:latin typeface="Newsreader"/>
              </a:rPr>
              <a:t>cinco</a:t>
            </a:r>
            <a:r>
              <a:rPr sz="3100" b="0" i="0">
                <a:solidFill>
                  <a:srgbClr val="211F1A"/>
                </a:solidFill>
                <a:latin typeface="Newsreader"/>
              </a:rPr>
              <a:t>. Os outros sete seguem com vocês.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8C6F45"/>
                </a:solidFill>
                <a:latin typeface="Hanken Grotesk"/>
              </a:rPr>
              <a:t>O MANDOR AMPLIFICA  ·  5 DE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05480"/>
            <a:ext cx="182880" cy="3048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31546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11F1A"/>
                </a:solidFill>
                <a:latin typeface="Newsreader"/>
              </a:rPr>
              <a:t>M&amp;A (Fusões e Aquisições)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17544"/>
            <a:ext cx="182880" cy="3048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366674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11F1A"/>
                </a:solidFill>
                <a:latin typeface="Newsreader"/>
              </a:rPr>
              <a:t>Due Diligence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229608"/>
            <a:ext cx="182880" cy="3048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41788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11F1A"/>
                </a:solidFill>
                <a:latin typeface="Newsreader"/>
              </a:rPr>
              <a:t>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741672"/>
            <a:ext cx="182880" cy="3048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469087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11F1A"/>
                </a:solidFill>
                <a:latin typeface="Newsreader"/>
              </a:rPr>
              <a:t>Estruturação de Capital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253736"/>
            <a:ext cx="182880" cy="3048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6152" y="5202936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211F1A"/>
                </a:solidFill>
                <a:latin typeface="Newsreader"/>
              </a:rPr>
              <a:t>Diagnóstico Empresarial (parte analítica)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697480"/>
            <a:ext cx="15240" cy="3108960"/>
          </a:xfrm>
          <a:prstGeom prst="rect">
            <a:avLst/>
          </a:prstGeom>
          <a:solidFill>
            <a:srgbClr val="CFC7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6060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5E5A53"/>
                </a:solidFill>
                <a:latin typeface="Hanken Grotesk"/>
              </a:rPr>
              <a:t>SEGUE 100% COM A ASSIS  ·  7 DE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3154680"/>
            <a:ext cx="4206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E5A53"/>
                </a:solidFill>
                <a:latin typeface="Newsreader"/>
              </a:rPr>
              <a:t>Governança · Compliance contínuo · Auditoria contábil · Administração Judicial · Treinamento de Gestão · Calendário Contábil · Balanced Scorecard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291072"/>
            <a:ext cx="36576" cy="182880"/>
          </a:xfrm>
          <a:prstGeom prst="rect">
            <a:avLst/>
          </a:pr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6874" y="6291072"/>
            <a:ext cx="36576" cy="182880"/>
          </a:xfrm>
          <a:prstGeom prst="rect">
            <a:avLst/>
          </a:pr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83971" y="6291072"/>
            <a:ext cx="85588" cy="182880"/>
          </a:xfrm>
          <a:custGeom>
            <a:avLst/>
            <a:gdLst/>
            <a:ahLst/>
            <a:cxnLst/>
            <a:rect l="l" t="t" r="r" b="b"/>
            <a:pathLst>
              <a:path w="85588" h="182880">
                <a:moveTo>
                  <a:pt x="49012" y="0"/>
                </a:moveTo>
                <a:lnTo>
                  <a:pt x="85588" y="0"/>
                </a:lnTo>
                <a:lnTo>
                  <a:pt x="36576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6265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80">
                <a:solidFill>
                  <a:srgbClr val="5E5A53"/>
                </a:solidFill>
                <a:latin typeface="Hanken Grotesk"/>
              </a:rPr>
              <a:t>MANDOR  ·  ASSIS GESTÃO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2656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5E5A53"/>
                </a:solidFill>
                <a:latin typeface="Hanken Grotesk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21B13"/>
            </a:gs>
            <a:gs pos="100000">
              <a:srgbClr val="18140F"/>
            </a:gs>
          </a:gsLst>
          <a:lin scaled="0" ang="183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840740"/>
            <a:ext cx="292608" cy="25400"/>
          </a:xfrm>
          <a:prstGeom prst="rect">
            <a:avLst/>
          </a:prstGeom>
          <a:solidFill>
            <a:srgbClr val="C0A2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9304" y="7772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320">
                <a:solidFill>
                  <a:srgbClr val="C0A26C"/>
                </a:solidFill>
                <a:latin typeface="Hanken Grotesk"/>
              </a:rPr>
              <a:t>DENTRO DESSES CINCO, TRÊS PERGUNTAS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EDE9E5"/>
                </a:solidFill>
                <a:latin typeface="Newsreader"/>
              </a:rPr>
              <a:t>As três perguntas que aparecem em </a:t>
            </a:r>
            <a:r>
              <a:rPr sz="3200" b="0" i="1">
                <a:solidFill>
                  <a:srgbClr val="C0A26C"/>
                </a:solidFill>
                <a:latin typeface="Newsreader"/>
              </a:rPr>
              <a:t>toda casa que cresce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0A26C"/>
                </a:solidFill>
                <a:latin typeface="Newsreader"/>
              </a:rPr>
              <a:t>01</a:t>
            </a:r>
            <a:r>
              <a:rPr sz="2400" b="0" i="0">
                <a:solidFill>
                  <a:srgbClr val="EDE9E5"/>
                </a:solidFill>
                <a:latin typeface="Newsreader"/>
              </a:rPr>
              <a:t>    A inteligência da casa fica, ou vai embora com o sócio?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490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0A26C"/>
                </a:solidFill>
                <a:latin typeface="Newsreader"/>
              </a:rPr>
              <a:t>02</a:t>
            </a:r>
            <a:r>
              <a:rPr sz="2400" b="0" i="0">
                <a:solidFill>
                  <a:srgbClr val="EDE9E5"/>
                </a:solidFill>
                <a:latin typeface="Newsreader"/>
              </a:rPr>
              <a:t>    O deal chega ao comprador certo, ou depende da agenda de alguém?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634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C0A26C"/>
                </a:solidFill>
                <a:latin typeface="Newsreader"/>
              </a:rPr>
              <a:t>03</a:t>
            </a:r>
            <a:r>
              <a:rPr sz="2400" b="0" i="0">
                <a:solidFill>
                  <a:srgbClr val="EDE9E5"/>
                </a:solidFill>
                <a:latin typeface="Newsreader"/>
              </a:rPr>
              <a:t>    A capacidade de análise acompanha o volume de oportunidades?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91072"/>
            <a:ext cx="36576" cy="18288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6874" y="6291072"/>
            <a:ext cx="36576" cy="18288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83971" y="6291072"/>
            <a:ext cx="85588" cy="182880"/>
          </a:xfrm>
          <a:custGeom>
            <a:avLst/>
            <a:gdLst/>
            <a:ahLst/>
            <a:cxnLst/>
            <a:rect l="l" t="t" r="r" b="b"/>
            <a:pathLst>
              <a:path w="85588" h="182880">
                <a:moveTo>
                  <a:pt x="49012" y="0"/>
                </a:moveTo>
                <a:lnTo>
                  <a:pt x="85588" y="0"/>
                </a:lnTo>
                <a:lnTo>
                  <a:pt x="36576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265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80">
                <a:solidFill>
                  <a:srgbClr val="B7B0A6"/>
                </a:solidFill>
                <a:latin typeface="Hanken Grotesk"/>
              </a:rPr>
              <a:t>MANDOR  ·  ASSIS GESTÃO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2656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B7B0A6"/>
                </a:solidFill>
                <a:latin typeface="Hanken Grotesk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21B13"/>
            </a:gs>
            <a:gs pos="100000">
              <a:srgbClr val="18140F"/>
            </a:gs>
          </a:gsLst>
          <a:lin scaled="0" ang="183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886460"/>
            <a:ext cx="292608" cy="25400"/>
          </a:xfrm>
          <a:prstGeom prst="rect">
            <a:avLst/>
          </a:prstGeom>
          <a:solidFill>
            <a:srgbClr val="C0A2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9304" y="8229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320">
                <a:solidFill>
                  <a:srgbClr val="C0A26C"/>
                </a:solidFill>
                <a:latin typeface="Hanken Grotesk"/>
              </a:rPr>
              <a:t>DEMONSTRAÇÃO AO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3327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EDE9E5"/>
                </a:solidFill>
                <a:latin typeface="Newsreader"/>
              </a:rPr>
              <a:t>Em vez de explicar, deixa eu </a:t>
            </a:r>
            <a:r>
              <a:rPr sz="3800" b="0" i="1">
                <a:solidFill>
                  <a:srgbClr val="C0A26C"/>
                </a:solidFill>
                <a:latin typeface="Newsreader"/>
              </a:rPr>
              <a:t>mostrar</a:t>
            </a:r>
            <a:r>
              <a:rPr sz="3800" b="0" i="0">
                <a:solidFill>
                  <a:srgbClr val="EDE9E5"/>
                </a:solidFill>
                <a:latin typeface="Newsread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B7B0A6"/>
                </a:solidFill>
                <a:latin typeface="Newsreader"/>
              </a:rPr>
              <a:t>Lumina Diagnósticos. Venda de controle, medicina diagnóstica no Sul. Um caso do mundo de vocês, rodado por dentro do Mandor.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291072"/>
            <a:ext cx="36576" cy="18288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6874" y="6291072"/>
            <a:ext cx="36576" cy="18288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83971" y="6291072"/>
            <a:ext cx="85588" cy="182880"/>
          </a:xfrm>
          <a:custGeom>
            <a:avLst/>
            <a:gdLst/>
            <a:ahLst/>
            <a:cxnLst/>
            <a:rect l="l" t="t" r="r" b="b"/>
            <a:pathLst>
              <a:path w="85588" h="182880">
                <a:moveTo>
                  <a:pt x="49012" y="0"/>
                </a:moveTo>
                <a:lnTo>
                  <a:pt x="85588" y="0"/>
                </a:lnTo>
                <a:lnTo>
                  <a:pt x="36576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6265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80">
                <a:solidFill>
                  <a:srgbClr val="B7B0A6"/>
                </a:solidFill>
                <a:latin typeface="Hanken Grotesk"/>
              </a:rPr>
              <a:t>MANDOR  ·  ASSIS GESTÃO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015" y="62656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B7B0A6"/>
                </a:solidFill>
                <a:latin typeface="Hanken Grotesk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DE9E5"/>
            </a:gs>
            <a:gs pos="100000">
              <a:srgbClr val="E2DBD1"/>
            </a:gs>
          </a:gsLst>
          <a:lin scaled="0" ang="183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840740"/>
            <a:ext cx="292608" cy="2540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9304" y="7772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320">
                <a:solidFill>
                  <a:srgbClr val="8C6F45"/>
                </a:solidFill>
                <a:latin typeface="Hanken Grotesk"/>
              </a:rPr>
              <a:t>O QUE MUDA QUANDO ISSO ESTÁ RESOLVIDO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211F1A"/>
                </a:solidFill>
                <a:latin typeface="Newsreader"/>
              </a:rPr>
              <a:t>Para uma casa como a Assis, na prática: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773680"/>
            <a:ext cx="201168" cy="3302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2728" y="269748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1F1A"/>
                </a:solidFill>
                <a:latin typeface="Newsreader"/>
              </a:rPr>
              <a:t>A inteligência analítica da casa fica na casa, mesmo quando um sócio sai.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50920"/>
            <a:ext cx="201168" cy="3302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347472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1F1A"/>
                </a:solidFill>
                <a:latin typeface="Newsreader"/>
              </a:rPr>
              <a:t>Cada deal sai do diagnóstico já sabendo para quem levar, com score e justificativa.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328160"/>
            <a:ext cx="201168" cy="3302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425196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11F1A"/>
                </a:solidFill>
                <a:latin typeface="Newsreader"/>
              </a:rPr>
              <a:t>O mesmo critério da mesa de vocês vale no primeiro e no quadragésimo deal do mês.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291072"/>
            <a:ext cx="36576" cy="182880"/>
          </a:xfrm>
          <a:prstGeom prst="rect">
            <a:avLst/>
          </a:pr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6874" y="6291072"/>
            <a:ext cx="36576" cy="182880"/>
          </a:xfrm>
          <a:prstGeom prst="rect">
            <a:avLst/>
          </a:pr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83971" y="6291072"/>
            <a:ext cx="85588" cy="182880"/>
          </a:xfrm>
          <a:custGeom>
            <a:avLst/>
            <a:gdLst/>
            <a:ahLst/>
            <a:cxnLst/>
            <a:rect l="l" t="t" r="r" b="b"/>
            <a:pathLst>
              <a:path w="85588" h="182880">
                <a:moveTo>
                  <a:pt x="49012" y="0"/>
                </a:moveTo>
                <a:lnTo>
                  <a:pt x="85588" y="0"/>
                </a:lnTo>
                <a:lnTo>
                  <a:pt x="36576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6265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80">
                <a:solidFill>
                  <a:srgbClr val="5E5A53"/>
                </a:solidFill>
                <a:latin typeface="Hanken Grotesk"/>
              </a:rPr>
              <a:t>MANDOR  ·  ASSIS GESTÃO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2656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5E5A53"/>
                </a:solidFill>
                <a:latin typeface="Hanken Grotesk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EDE9E5"/>
            </a:gs>
            <a:gs pos="100000">
              <a:srgbClr val="E2DBD1"/>
            </a:gs>
          </a:gsLst>
          <a:lin scaled="0" ang="183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840740"/>
            <a:ext cx="292608" cy="25400"/>
          </a:xfrm>
          <a:prstGeom prst="rect">
            <a:avLst/>
          </a:prstGeom>
          <a:solidFill>
            <a:srgbClr val="8C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9304" y="77724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320">
                <a:solidFill>
                  <a:srgbClr val="8C6F45"/>
                </a:solidFill>
                <a:latin typeface="Hanken Grotesk"/>
              </a:rPr>
              <a:t>PRÓXIMO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0" i="0">
                <a:solidFill>
                  <a:srgbClr val="211F1A"/>
                </a:solidFill>
                <a:latin typeface="Newsreader"/>
              </a:rPr>
              <a:t>Um piloto sobre um caso </a:t>
            </a:r>
            <a:r>
              <a:rPr sz="3100" b="0" i="1">
                <a:solidFill>
                  <a:srgbClr val="8C6F45"/>
                </a:solidFill>
                <a:latin typeface="Newsreader"/>
              </a:rPr>
              <a:t>que vocês conhecem</a:t>
            </a:r>
            <a:r>
              <a:rPr sz="3100" b="0" i="0">
                <a:solidFill>
                  <a:srgbClr val="211F1A"/>
                </a:solidFill>
                <a:latin typeface="Newsreader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8C6F45"/>
                </a:solidFill>
                <a:latin typeface="Newsreader"/>
              </a:rPr>
              <a:t>01</a:t>
            </a:r>
            <a:r>
              <a:rPr sz="1800" b="0" i="0">
                <a:solidFill>
                  <a:srgbClr val="211F1A"/>
                </a:solidFill>
                <a:latin typeface="Newsreader"/>
              </a:rPr>
              <a:t>    Vocês me passam um caso anonimizado que a Assis estruturou nos últimos meses.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38728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8C6F45"/>
                </a:solidFill>
                <a:latin typeface="Newsreader"/>
              </a:rPr>
              <a:t>02</a:t>
            </a:r>
            <a:r>
              <a:rPr sz="1800" b="0" i="0">
                <a:solidFill>
                  <a:srgbClr val="211F1A"/>
                </a:solidFill>
                <a:latin typeface="Newsreader"/>
              </a:rPr>
              <a:t>    Eu rodo dentro do Mandor e preparo o dossiê sobre material que vocês conhecem.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79976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8C6F45"/>
                </a:solidFill>
                <a:latin typeface="Newsreader"/>
              </a:rPr>
              <a:t>03</a:t>
            </a:r>
            <a:r>
              <a:rPr sz="1800" b="0" i="0">
                <a:solidFill>
                  <a:srgbClr val="211F1A"/>
                </a:solidFill>
                <a:latin typeface="Newsreader"/>
              </a:rPr>
              <a:t>    Call em cerca de dez dias para verem funcionando. O desenho comercial conversamos a partir daí.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91072"/>
            <a:ext cx="36576" cy="182880"/>
          </a:xfrm>
          <a:prstGeom prst="rect">
            <a:avLst/>
          </a:pr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6874" y="6291072"/>
            <a:ext cx="36576" cy="182880"/>
          </a:xfrm>
          <a:prstGeom prst="rect">
            <a:avLst/>
          </a:pr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83971" y="6291072"/>
            <a:ext cx="85588" cy="182880"/>
          </a:xfrm>
          <a:custGeom>
            <a:avLst/>
            <a:gdLst/>
            <a:ahLst/>
            <a:cxnLst/>
            <a:rect l="l" t="t" r="r" b="b"/>
            <a:pathLst>
              <a:path w="85588" h="182880">
                <a:moveTo>
                  <a:pt x="49012" y="0"/>
                </a:moveTo>
                <a:lnTo>
                  <a:pt x="85588" y="0"/>
                </a:lnTo>
                <a:lnTo>
                  <a:pt x="36576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211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265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80">
                <a:solidFill>
                  <a:srgbClr val="5E5A53"/>
                </a:solidFill>
                <a:latin typeface="Hanken Grotesk"/>
              </a:rPr>
              <a:t>MANDOR  ·  ASSIS GESTÃO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2656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5E5A53"/>
                </a:solidFill>
                <a:latin typeface="Hanken Grotesk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221B13"/>
            </a:gs>
            <a:gs pos="100000">
              <a:srgbClr val="18140F"/>
            </a:gs>
          </a:gsLst>
          <a:lin scaled="0" ang="183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286000"/>
            <a:ext cx="109728" cy="54864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79062" y="2286000"/>
            <a:ext cx="109728" cy="54864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00353" y="2286000"/>
            <a:ext cx="256764" cy="548640"/>
          </a:xfrm>
          <a:custGeom>
            <a:avLst/>
            <a:gdLst/>
            <a:ahLst/>
            <a:cxnLst/>
            <a:rect l="l" t="t" r="r" b="b"/>
            <a:pathLst>
              <a:path w="256764" h="548640">
                <a:moveTo>
                  <a:pt x="147036" y="0"/>
                </a:moveTo>
                <a:lnTo>
                  <a:pt x="256764" y="0"/>
                </a:lnTo>
                <a:lnTo>
                  <a:pt x="109728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81912" y="23317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 spc="620">
                <a:solidFill>
                  <a:srgbClr val="EDE9E5"/>
                </a:solidFill>
                <a:latin typeface="Newsreader"/>
              </a:rPr>
              <a:t>MANDOR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EDE9E5"/>
                </a:solidFill>
                <a:latin typeface="Newsreader"/>
              </a:rPr>
              <a:t>Não vim vender. Vim propor que a gente </a:t>
            </a:r>
            <a:r>
              <a:rPr sz="3000" b="0" i="1">
                <a:solidFill>
                  <a:srgbClr val="C0A26C"/>
                </a:solidFill>
                <a:latin typeface="Newsreader"/>
              </a:rPr>
              <a:t>rode junto</a:t>
            </a:r>
            <a:r>
              <a:rPr sz="3000" b="0" i="0">
                <a:solidFill>
                  <a:srgbClr val="EDE9E5"/>
                </a:solidFill>
                <a:latin typeface="Newsread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720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spc="120">
                <a:solidFill>
                  <a:srgbClr val="C0A26C"/>
                </a:solidFill>
                <a:latin typeface="Hanken Grotesk"/>
              </a:rPr>
              <a:t>www.mandor.com.br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291072"/>
            <a:ext cx="36576" cy="18288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6874" y="6291072"/>
            <a:ext cx="36576" cy="182880"/>
          </a:xfrm>
          <a:prstGeom prst="rect">
            <a:avLst/>
          </a:pr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683971" y="6291072"/>
            <a:ext cx="85588" cy="182880"/>
          </a:xfrm>
          <a:custGeom>
            <a:avLst/>
            <a:gdLst/>
            <a:ahLst/>
            <a:cxnLst/>
            <a:rect l="l" t="t" r="r" b="b"/>
            <a:pathLst>
              <a:path w="85588" h="182880">
                <a:moveTo>
                  <a:pt x="49012" y="0"/>
                </a:moveTo>
                <a:lnTo>
                  <a:pt x="85588" y="0"/>
                </a:lnTo>
                <a:lnTo>
                  <a:pt x="36576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ED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26567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280">
                <a:solidFill>
                  <a:srgbClr val="B7B0A6"/>
                </a:solidFill>
                <a:latin typeface="Hanken Grotesk"/>
              </a:rPr>
              <a:t>MANDOR  ·  ASSIS GESTÃO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2656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 spc="200">
                <a:solidFill>
                  <a:srgbClr val="B7B0A6"/>
                </a:solidFill>
                <a:latin typeface="Hanken Grotesk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