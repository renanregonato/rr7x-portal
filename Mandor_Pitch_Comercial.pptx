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1F3F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4864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COMERCIAL · CONFIDENCIAL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escritório que decide
</a:t>
            </a:r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dia antes,
</a:t>
            </a:r>
            <a:pPr indent="0" marL="0">
              <a:lnSpc>
                <a:spcPct val="105000"/>
              </a:lnSpc>
              <a:buNone/>
            </a:pPr>
            <a:r>
              <a:rPr lang="en-US" sz="54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ganha o deal.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aplicada para M&amp;A, crédito estruturado, originação e assessoria financeira.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   ·   apresentação para destinatário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 DO MERCADO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 </a:t>
            </a:r>
            <a:pPr indent="0" marL="0">
              <a:lnSpc>
                <a:spcPct val="105000"/>
              </a:lnSpc>
              <a:buNone/>
            </a:pPr>
            <a:r>
              <a:rPr lang="en-US" sz="64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virou margem.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analisa um deal em horas está fechando operações que quem analisa em semanas nunca vai sequer ver.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760720"/>
            <a:ext cx="457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próxima década já começou a separar os escritórios.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MÉTODO ANTIGO COBRA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análise. E sem nenhuma garantia de fechamento.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3172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pPr indent="0" marL="0">
              <a:buNone/>
            </a:pPr>
            <a:r>
              <a:rPr lang="en-US" sz="2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dias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100584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para concluir uma única análise empresarial completa.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233172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233172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2788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pPr indent="0" marL="0">
              <a:buNone/>
            </a:pPr>
            <a:r>
              <a:rPr lang="en-US" sz="2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9200" dirty="0"/>
          </a:p>
        </p:txBody>
      </p:sp>
      <p:sp>
        <p:nvSpPr>
          <p:cNvPr id="11" name="Text 9"/>
          <p:cNvSpPr/>
          <p:nvPr/>
        </p:nvSpPr>
        <p:spPr>
          <a:xfrm>
            <a:off x="4736592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deals que esquentam acabam esfriando por demora técnica.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233172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233172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67344" y="2788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pPr indent="0" marL="0">
              <a:buNone/>
            </a:pPr>
            <a:r>
              <a:rPr lang="en-US" sz="2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R$ mil</a:t>
            </a:r>
            <a:endParaRPr lang="en-US" sz="9200" dirty="0"/>
          </a:p>
        </p:txBody>
      </p:sp>
      <p:sp>
        <p:nvSpPr>
          <p:cNvPr id="15" name="Text 13"/>
          <p:cNvSpPr/>
          <p:nvPr/>
        </p:nvSpPr>
        <p:spPr>
          <a:xfrm>
            <a:off x="8467344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afundado em cada análise que não termina virando mandato.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1F3FA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MANDOR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inteligência que faz em </a:t>
            </a:r>
            <a:pPr indent="0" marL="0">
              <a:lnSpc>
                <a:spcPct val="110000"/>
              </a:lnSpc>
              <a:buNone/>
            </a:pPr>
            <a:r>
              <a:rPr lang="en-US" sz="46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horas
</a:t>
            </a:r>
            <a:pPr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método antigo leva </a:t>
            </a:r>
            <a:pPr indent="0" marL="0">
              <a:lnSpc>
                <a:spcPct val="110000"/>
              </a:lnSpc>
              <a:buNone/>
            </a:pPr>
            <a:r>
              <a:rPr lang="en-US" sz="46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semanas.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40080" y="5440680"/>
            <a:ext cx="457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inteligências especializadas operando em paralelo, sob a sua marca, com padrão institucional em 100% das entregas.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TRÊS MOVIMENTOS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upload ao dossiê institucional, sem fricção.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54864" cy="38404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000" dirty="0"/>
          </a:p>
        </p:txBody>
      </p:sp>
      <p:sp>
        <p:nvSpPr>
          <p:cNvPr id="7" name="Shape 5"/>
          <p:cNvSpPr/>
          <p:nvPr/>
        </p:nvSpPr>
        <p:spPr>
          <a:xfrm>
            <a:off x="1005840" y="4023360"/>
            <a:ext cx="288036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4800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envia os documentos do ativo: balanços, contratos, atas, papers. Em qualquer formato.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219456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194560"/>
            <a:ext cx="54864" cy="38404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2651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000" dirty="0"/>
          </a:p>
        </p:txBody>
      </p:sp>
      <p:sp>
        <p:nvSpPr>
          <p:cNvPr id="13" name="Shape 11"/>
          <p:cNvSpPr/>
          <p:nvPr/>
        </p:nvSpPr>
        <p:spPr>
          <a:xfrm>
            <a:off x="4736592" y="4023360"/>
            <a:ext cx="288036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36592" y="4800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inteligências especializadas leem, cruzam, validam e estruturam — simultaneamente.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19456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2194560"/>
            <a:ext cx="54864" cy="384048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2651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000" dirty="0"/>
          </a:p>
        </p:txBody>
      </p:sp>
      <p:sp>
        <p:nvSpPr>
          <p:cNvPr id="19" name="Shape 17"/>
          <p:cNvSpPr/>
          <p:nvPr/>
        </p:nvSpPr>
        <p:spPr>
          <a:xfrm>
            <a:off x="8467344" y="4023360"/>
            <a:ext cx="288036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Dossiê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67344" y="4800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institucional pronto: análise, valuation, teaser, recomendação estratégica. Em horas.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OPERAÇÃO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escritório. Outra realidade.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42239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54864" cy="4160520"/>
          </a:xfrm>
          <a:prstGeom prst="rect">
            <a:avLst/>
          </a:prstGeom>
          <a:solidFill>
            <a:srgbClr val="C6315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6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manual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53912" y="2103120"/>
            <a:ext cx="5422392" cy="4160520"/>
          </a:xfrm>
          <a:prstGeom prst="rect">
            <a:avLst/>
          </a:prstGeom>
          <a:solidFill>
            <a:srgbClr val="0A1635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3912" y="2103120"/>
            <a:ext cx="54864" cy="4160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assistida por IA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937760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3154680"/>
            <a:ext cx="4937760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27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3 a 4 semanas por análise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27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Até 4 horas, fim a fim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3703320"/>
            <a:ext cx="4937760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703320"/>
            <a:ext cx="4937760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8 a 12 deals analisáveis / mês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40+ deals analisáveis / mês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4251960"/>
            <a:ext cx="4937760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4251960"/>
            <a:ext cx="4937760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251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Padrão variável por analista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43251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Padrão institucional em todos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4800600"/>
            <a:ext cx="4937760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800600"/>
            <a:ext cx="4937760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Time exausto na triagem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Time focado em decisão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4937760" cy="0"/>
          </a:xfrm>
          <a:prstGeom prst="line">
            <a:avLst/>
          </a:prstGeom>
          <a:noFill/>
          <a:ln w="5080">
            <a:solidFill>
              <a:srgbClr val="E4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5349240"/>
            <a:ext cx="4937760" cy="0"/>
          </a:xfrm>
          <a:prstGeom prst="line">
            <a:avLst/>
          </a:prstGeom>
          <a:noFill/>
          <a:ln w="5080">
            <a:solidFill>
              <a:srgbClr val="1F2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422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Crescer = contratar = custo fixo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73952" y="5422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Crescer sem contratar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NINGUÉM MAIS ENTREGA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IA genérica. </a:t>
            </a:r>
            <a:pPr indent="0" marL="0">
              <a:lnSpc>
                <a:spcPct val="110000"/>
              </a:lnSpc>
              <a:buNone/>
            </a:pPr>
            <a:r>
              <a:rPr lang="en-US" sz="28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inteligência institucional.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 real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05840" y="4160520"/>
            <a:ext cx="288036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97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rascunho de IA, não primeira versão. Dossiê pronto para reunião com cliente em até 4 horas.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237744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3774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2788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completo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736592" y="4160520"/>
            <a:ext cx="288036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4297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vê o seu escritório, não a Mandor. Marca, paleta, capa, identidade — tudo seu.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37744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23774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2788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67344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proprietária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467344" y="4160520"/>
            <a:ext cx="2880360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4297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análise calibra um modelo que é só do seu escritório. Pela primeira vez, autoridade tecnológica vira ativo da casa.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F3FA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QUE IMPORTA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0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0" dirty="0"/>
          </a:p>
        </p:txBody>
      </p:sp>
      <p:sp>
        <p:nvSpPr>
          <p:cNvPr id="6" name="Text 4"/>
          <p:cNvSpPr/>
          <p:nvPr/>
        </p:nvSpPr>
        <p:spPr>
          <a:xfrm>
            <a:off x="4846320" y="27432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4572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entre o upload dos documentos e a entrega do dossiê institucional completo.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Cerca de 95% mais rápido do que o mercado pratica hoje.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1F2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6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OPERAÇÃO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escritórios que decidiram não esperar a próxima década 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165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estão operando com a Mandor.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3337560"/>
            <a:ext cx="54864" cy="14173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56616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Escritórios de M&amp;A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e mid-market que disputam ativos com fundos institucionais.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3337560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2784" y="3337560"/>
            <a:ext cx="54864" cy="14173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0" name="Text 8"/>
          <p:cNvSpPr/>
          <p:nvPr/>
        </p:nvSpPr>
        <p:spPr>
          <a:xfrm>
            <a:off x="6638544" y="356616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Fundos de crédito estruturado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38544" y="3977640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CRI, CRA, debêntures e securitizações com pipeline acima da capacidade do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937760"/>
            <a:ext cx="54864" cy="14173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16636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Assessorias financeiras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577840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que precisam padronizar entrega institucional sem aumentar custo fixo.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4937760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4937760"/>
            <a:ext cx="54864" cy="1417320"/>
          </a:xfrm>
          <a:prstGeom prst="rect">
            <a:avLst/>
          </a:prstGeom>
          <a:solidFill>
            <a:srgbClr val="1655E8"/>
          </a:solidFill>
          <a:ln/>
        </p:spPr>
      </p:sp>
      <p:sp>
        <p:nvSpPr>
          <p:cNvPr id="18" name="Text 16"/>
          <p:cNvSpPr/>
          <p:nvPr/>
        </p:nvSpPr>
        <p:spPr>
          <a:xfrm>
            <a:off x="6638544" y="516636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Estruturadoras e intermediários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38544" y="5577840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Originadores que querem qualificar mais ativos sem ampliar headcount.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4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06240" y="6510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65105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F3F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C9A96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MOVIMENTO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provar em
</a:t>
            </a:r>
            <a:pPr indent="0" marL="0">
              <a:lnSpc>
                <a:spcPct val="105000"/>
              </a:lnSpc>
              <a:buNone/>
            </a:pPr>
            <a:r>
              <a:rPr lang="en-US" sz="64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horas.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7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minutos de reunião. Um deal real seu rodando dentro da Mandor — sob a marca do seu escritório — antes do final da semana.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440680"/>
            <a:ext cx="10972800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0A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REUNIÃO ESTRATÉGICA  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mandor.com.br</a:t>
            </a:r>
            <a:pPr algn="ctr" indent="0" marL="0">
              <a:buNone/>
            </a:pPr>
            <a:r>
              <a:rPr lang="en-US" sz="1100" spc="200" kern="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mandor@rr7x.com.br</a:t>
            </a:r>
            <a:pPr algn="ctr" indent="0" marL="0">
              <a:buNone/>
            </a:pPr>
            <a:r>
              <a:rPr lang="en-US" sz="1100" spc="200" kern="0" dirty="0">
                <a:solidFill>
                  <a:srgbClr val="5B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000" i="1" spc="2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confidencial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Mandor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Mandor · Pitch Comercial</dc:title>
  <dc:subject>PptxGenJS Presentation</dc:subject>
  <dc:creator>Mandor</dc:creator>
  <cp:lastModifiedBy>Mandor</cp:lastModifiedBy>
  <cp:revision>1</cp:revision>
  <dcterms:created xsi:type="dcterms:W3CDTF">2026-05-20T00:01:45Z</dcterms:created>
  <dcterms:modified xsi:type="dcterms:W3CDTF">2026-05-20T00:01:45Z</dcterms:modified>
</cp:coreProperties>
</file>