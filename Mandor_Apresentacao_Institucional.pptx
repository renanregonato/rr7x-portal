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1F3FA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655E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937760"/>
            <a:ext cx="45720" cy="45720"/>
          </a:xfrm>
          <a:prstGeom prst="ellipse">
            <a:avLst/>
          </a:prstGeom>
          <a:solidFill>
            <a:srgbClr val="1655E8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5138928"/>
            <a:ext cx="45720" cy="45720"/>
          </a:xfrm>
          <a:prstGeom prst="ellipse">
            <a:avLst/>
          </a:prstGeom>
          <a:solidFill>
            <a:srgbClr val="1655E8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5340096"/>
            <a:ext cx="45720" cy="45720"/>
          </a:xfrm>
          <a:prstGeom prst="ellipse">
            <a:avLst/>
          </a:prstGeom>
          <a:solidFill>
            <a:srgbClr val="1655E8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5541264"/>
            <a:ext cx="45720" cy="45720"/>
          </a:xfrm>
          <a:prstGeom prst="ellipse">
            <a:avLst/>
          </a:prstGeom>
          <a:solidFill>
            <a:srgbClr val="1655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01200" y="5742432"/>
            <a:ext cx="45720" cy="45720"/>
          </a:xfrm>
          <a:prstGeom prst="ellipse">
            <a:avLst/>
          </a:prstGeom>
          <a:solidFill>
            <a:srgbClr val="1655E8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02368" y="4937760"/>
            <a:ext cx="45720" cy="45720"/>
          </a:xfrm>
          <a:prstGeom prst="ellipse">
            <a:avLst/>
          </a:prstGeom>
          <a:solidFill>
            <a:srgbClr val="1655E8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802368" y="5138928"/>
            <a:ext cx="45720" cy="45720"/>
          </a:xfrm>
          <a:prstGeom prst="ellipse">
            <a:avLst/>
          </a:prstGeom>
          <a:solidFill>
            <a:srgbClr val="1655E8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02368" y="5340096"/>
            <a:ext cx="45720" cy="45720"/>
          </a:xfrm>
          <a:prstGeom prst="ellipse">
            <a:avLst/>
          </a:prstGeom>
          <a:solidFill>
            <a:srgbClr val="1655E8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02368" y="5541264"/>
            <a:ext cx="45720" cy="45720"/>
          </a:xfrm>
          <a:prstGeom prst="ellipse">
            <a:avLst/>
          </a:prstGeom>
          <a:solidFill>
            <a:srgbClr val="1655E8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5742432"/>
            <a:ext cx="45720" cy="45720"/>
          </a:xfrm>
          <a:prstGeom prst="ellipse">
            <a:avLst/>
          </a:prstGeom>
          <a:solidFill>
            <a:srgbClr val="1655E8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03536" y="4937760"/>
            <a:ext cx="45720" cy="45720"/>
          </a:xfrm>
          <a:prstGeom prst="ellipse">
            <a:avLst/>
          </a:prstGeom>
          <a:solidFill>
            <a:srgbClr val="1655E8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03536" y="5138928"/>
            <a:ext cx="45720" cy="45720"/>
          </a:xfrm>
          <a:prstGeom prst="ellipse">
            <a:avLst/>
          </a:prstGeom>
          <a:solidFill>
            <a:srgbClr val="1655E8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003536" y="5340096"/>
            <a:ext cx="45720" cy="45720"/>
          </a:xfrm>
          <a:prstGeom prst="ellipse">
            <a:avLst/>
          </a:prstGeom>
          <a:solidFill>
            <a:srgbClr val="1655E8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003536" y="5541264"/>
            <a:ext cx="45720" cy="45720"/>
          </a:xfrm>
          <a:prstGeom prst="ellipse">
            <a:avLst/>
          </a:prstGeom>
          <a:solidFill>
            <a:srgbClr val="1655E8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03536" y="5742432"/>
            <a:ext cx="45720" cy="45720"/>
          </a:xfrm>
          <a:prstGeom prst="ellipse">
            <a:avLst/>
          </a:prstGeom>
          <a:solidFill>
            <a:srgbClr val="1655E8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204704" y="4937760"/>
            <a:ext cx="45720" cy="45720"/>
          </a:xfrm>
          <a:prstGeom prst="ellipse">
            <a:avLst/>
          </a:prstGeom>
          <a:solidFill>
            <a:srgbClr val="1655E8">
              <a:alpha val="5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204704" y="5138928"/>
            <a:ext cx="45720" cy="45720"/>
          </a:xfrm>
          <a:prstGeom prst="ellipse">
            <a:avLst/>
          </a:prstGeom>
          <a:solidFill>
            <a:srgbClr val="1655E8">
              <a:alpha val="5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204704" y="5340096"/>
            <a:ext cx="45720" cy="45720"/>
          </a:xfrm>
          <a:prstGeom prst="ellipse">
            <a:avLst/>
          </a:prstGeom>
          <a:solidFill>
            <a:srgbClr val="1655E8">
              <a:alpha val="5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04704" y="5541264"/>
            <a:ext cx="45720" cy="45720"/>
          </a:xfrm>
          <a:prstGeom prst="ellipse">
            <a:avLst/>
          </a:prstGeom>
          <a:solidFill>
            <a:srgbClr val="1655E8">
              <a:alpha val="5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204704" y="5742432"/>
            <a:ext cx="45720" cy="45720"/>
          </a:xfrm>
          <a:prstGeom prst="ellipse">
            <a:avLst/>
          </a:prstGeom>
          <a:solidFill>
            <a:srgbClr val="1655E8">
              <a:alpha val="5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405872" y="4937760"/>
            <a:ext cx="45720" cy="45720"/>
          </a:xfrm>
          <a:prstGeom prst="ellipse">
            <a:avLst/>
          </a:prstGeom>
          <a:solidFill>
            <a:srgbClr val="1655E8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405872" y="5138928"/>
            <a:ext cx="45720" cy="45720"/>
          </a:xfrm>
          <a:prstGeom prst="ellipse">
            <a:avLst/>
          </a:prstGeom>
          <a:solidFill>
            <a:srgbClr val="1655E8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405872" y="5340096"/>
            <a:ext cx="45720" cy="45720"/>
          </a:xfrm>
          <a:prstGeom prst="ellipse">
            <a:avLst/>
          </a:prstGeom>
          <a:solidFill>
            <a:srgbClr val="1655E8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405872" y="5541264"/>
            <a:ext cx="45720" cy="45720"/>
          </a:xfrm>
          <a:prstGeom prst="ellipse">
            <a:avLst/>
          </a:prstGeom>
          <a:solidFill>
            <a:srgbClr val="1655E8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405872" y="5742432"/>
            <a:ext cx="45720" cy="45720"/>
          </a:xfrm>
          <a:prstGeom prst="ellipse">
            <a:avLst/>
          </a:prstGeom>
          <a:solidFill>
            <a:srgbClr val="1655E8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607040" y="4937760"/>
            <a:ext cx="45720" cy="45720"/>
          </a:xfrm>
          <a:prstGeom prst="ellipse">
            <a:avLst/>
          </a:prstGeom>
          <a:solidFill>
            <a:srgbClr val="1655E8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607040" y="5138928"/>
            <a:ext cx="45720" cy="45720"/>
          </a:xfrm>
          <a:prstGeom prst="ellipse">
            <a:avLst/>
          </a:prstGeom>
          <a:solidFill>
            <a:srgbClr val="1655E8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607040" y="5340096"/>
            <a:ext cx="45720" cy="45720"/>
          </a:xfrm>
          <a:prstGeom prst="ellipse">
            <a:avLst/>
          </a:prstGeom>
          <a:solidFill>
            <a:srgbClr val="1655E8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607040" y="5541264"/>
            <a:ext cx="45720" cy="45720"/>
          </a:xfrm>
          <a:prstGeom prst="ellipse">
            <a:avLst/>
          </a:prstGeom>
          <a:solidFill>
            <a:srgbClr val="1655E8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607040" y="5742432"/>
            <a:ext cx="45720" cy="45720"/>
          </a:xfrm>
          <a:prstGeom prst="ellipse">
            <a:avLst/>
          </a:prstGeom>
          <a:solidFill>
            <a:srgbClr val="1655E8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808208" y="4937760"/>
            <a:ext cx="45720" cy="45720"/>
          </a:xfrm>
          <a:prstGeom prst="ellipse">
            <a:avLst/>
          </a:prstGeom>
          <a:solidFill>
            <a:srgbClr val="1655E8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808208" y="5138928"/>
            <a:ext cx="45720" cy="45720"/>
          </a:xfrm>
          <a:prstGeom prst="ellipse">
            <a:avLst/>
          </a:prstGeom>
          <a:solidFill>
            <a:srgbClr val="1655E8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808208" y="5340096"/>
            <a:ext cx="45720" cy="45720"/>
          </a:xfrm>
          <a:prstGeom prst="ellipse">
            <a:avLst/>
          </a:prstGeom>
          <a:solidFill>
            <a:srgbClr val="1655E8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808208" y="5541264"/>
            <a:ext cx="45720" cy="45720"/>
          </a:xfrm>
          <a:prstGeom prst="ellipse">
            <a:avLst/>
          </a:prstGeom>
          <a:solidFill>
            <a:srgbClr val="1655E8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808208" y="5742432"/>
            <a:ext cx="45720" cy="45720"/>
          </a:xfrm>
          <a:prstGeom prst="ellipse">
            <a:avLst/>
          </a:prstGeom>
          <a:solidFill>
            <a:srgbClr val="1655E8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02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960120"/>
            <a:ext cx="548640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INSTITUCIONAL · CONFIDENCIAL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2468880"/>
            <a:ext cx="10058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tempo é o ativo mais caro do mercado financeiro.
</a:t>
            </a:r>
            <a:pPr indent="0" marL="0">
              <a:lnSpc>
                <a:spcPct val="105000"/>
              </a:lnSpc>
              <a:buNone/>
            </a:pPr>
            <a:r>
              <a:rPr lang="en-US" sz="50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seu está vazando.</a:t>
            </a:r>
            <a:endParaRPr lang="en-US" sz="5000" dirty="0"/>
          </a:p>
        </p:txBody>
      </p:sp>
      <p:sp>
        <p:nvSpPr>
          <p:cNvPr id="43" name="Text 41"/>
          <p:cNvSpPr/>
          <p:nvPr/>
        </p:nvSpPr>
        <p:spPr>
          <a:xfrm>
            <a:off x="54864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aplicada para M&amp;A, Crédito Estruturado, Originação e Assessoria.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6350">
            <a:solidFill>
              <a:srgbClr val="1F2A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35040" y="626364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 · uso restrito ao destinatário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deals, tempo não é eficiência. </a:t>
            </a:r>
            <a:pPr indent="0" marL="0">
              <a:lnSpc>
                <a:spcPct val="105000"/>
              </a:lnSpc>
              <a:buNone/>
            </a:pPr>
            <a:r>
              <a:rPr lang="en-US" sz="3800" i="1" dirty="0">
                <a:solidFill>
                  <a:srgbClr val="1655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margem.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611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60604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pPr indent="0" marL="0">
              <a:buNone/>
            </a:pPr>
            <a:r>
              <a:rPr lang="en-US" sz="2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dias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para concluir uma análise empresarial completa.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606040"/>
            <a:ext cx="3611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260604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9260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pPr indent="0" marL="0">
              <a:buNone/>
            </a:pPr>
            <a:r>
              <a:rPr lang="en-US" sz="2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4663440" y="44805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deals que esquentam esfriam por demora na resposta técnica.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606040"/>
            <a:ext cx="3611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260604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9260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pPr indent="0" marL="0">
              <a:buNone/>
            </a:pPr>
            <a:r>
              <a:rPr lang="en-US" sz="2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R$ mil</a:t>
            </a:r>
            <a:endParaRPr lang="en-US" sz="8400" dirty="0"/>
          </a:p>
        </p:txBody>
      </p:sp>
      <p:sp>
        <p:nvSpPr>
          <p:cNvPr id="15" name="Text 13"/>
          <p:cNvSpPr/>
          <p:nvPr/>
        </p:nvSpPr>
        <p:spPr>
          <a:xfrm>
            <a:off x="8412480" y="44805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afundado em cada análise que não vira mandato.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semana que um deal passa parado é receita evaporando — e oportunidade migrando para o concorrente.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O CUSTO DO TEMPO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seu escritório opera hoje.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ciclo linear, com gargalo concentrado no meio da operação.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7007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468880"/>
            <a:ext cx="1700784" cy="4572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Captação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 deal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5400000">
            <a:off x="2253996" y="3246120"/>
            <a:ext cx="109728" cy="182880"/>
          </a:xfrm>
          <a:prstGeom prst="rtTriangle">
            <a:avLst/>
          </a:prstGeom>
          <a:solidFill>
            <a:srgbClr val="9CA3B5"/>
          </a:solidFill>
          <a:ln/>
        </p:spPr>
      </p:sp>
      <p:sp>
        <p:nvSpPr>
          <p:cNvPr id="11" name="Shape 9"/>
          <p:cNvSpPr/>
          <p:nvPr/>
        </p:nvSpPr>
        <p:spPr>
          <a:xfrm>
            <a:off x="2368296" y="2468880"/>
            <a:ext cx="17007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68296" y="2468880"/>
            <a:ext cx="1700784" cy="4572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13" name="Text 11"/>
          <p:cNvSpPr/>
          <p:nvPr/>
        </p:nvSpPr>
        <p:spPr>
          <a:xfrm>
            <a:off x="2551176" y="2651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51176" y="29718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Reunião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551176" y="3520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inicial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rot="5400000">
            <a:off x="4073652" y="3246120"/>
            <a:ext cx="109728" cy="182880"/>
          </a:xfrm>
          <a:prstGeom prst="rtTriangle">
            <a:avLst/>
          </a:prstGeom>
          <a:solidFill>
            <a:srgbClr val="9CA3B5"/>
          </a:solidFill>
          <a:ln/>
        </p:spPr>
      </p:sp>
      <p:sp>
        <p:nvSpPr>
          <p:cNvPr id="17" name="Shape 15"/>
          <p:cNvSpPr/>
          <p:nvPr/>
        </p:nvSpPr>
        <p:spPr>
          <a:xfrm>
            <a:off x="4187952" y="2468880"/>
            <a:ext cx="17007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87952" y="2468880"/>
            <a:ext cx="1700784" cy="4572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19" name="Text 17"/>
          <p:cNvSpPr/>
          <p:nvPr/>
        </p:nvSpPr>
        <p:spPr>
          <a:xfrm>
            <a:off x="4370832" y="2651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70832" y="29718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370832" y="3520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papers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5400000">
            <a:off x="5893308" y="3246120"/>
            <a:ext cx="109728" cy="182880"/>
          </a:xfrm>
          <a:prstGeom prst="rtTriangle">
            <a:avLst/>
          </a:prstGeom>
          <a:solidFill>
            <a:srgbClr val="9CA3B5"/>
          </a:solidFill>
          <a:ln/>
        </p:spPr>
      </p:sp>
      <p:sp>
        <p:nvSpPr>
          <p:cNvPr id="23" name="Shape 21"/>
          <p:cNvSpPr/>
          <p:nvPr/>
        </p:nvSpPr>
        <p:spPr>
          <a:xfrm>
            <a:off x="6007608" y="2468880"/>
            <a:ext cx="17007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07608" y="2468880"/>
            <a:ext cx="1700784" cy="4572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25" name="Text 23"/>
          <p:cNvSpPr/>
          <p:nvPr/>
        </p:nvSpPr>
        <p:spPr>
          <a:xfrm>
            <a:off x="6190488" y="2651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0488" y="29718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Apto?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90488" y="3520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do ativo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rot="5400000">
            <a:off x="7712964" y="3246120"/>
            <a:ext cx="109728" cy="182880"/>
          </a:xfrm>
          <a:prstGeom prst="rtTriangle">
            <a:avLst/>
          </a:prstGeom>
          <a:solidFill>
            <a:srgbClr val="9CA3B5"/>
          </a:solidFill>
          <a:ln/>
        </p:spPr>
      </p:sp>
      <p:sp>
        <p:nvSpPr>
          <p:cNvPr id="29" name="Shape 27"/>
          <p:cNvSpPr/>
          <p:nvPr/>
        </p:nvSpPr>
        <p:spPr>
          <a:xfrm>
            <a:off x="7827264" y="2468880"/>
            <a:ext cx="17007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27264" y="2468880"/>
            <a:ext cx="1700784" cy="4572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2651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10144" y="29718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Soluções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010144" y="3520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 técnica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rot="5400000">
            <a:off x="9532620" y="3246120"/>
            <a:ext cx="109728" cy="182880"/>
          </a:xfrm>
          <a:prstGeom prst="rtTriangle">
            <a:avLst/>
          </a:prstGeom>
          <a:solidFill>
            <a:srgbClr val="9CA3B5"/>
          </a:solidFill>
          <a:ln/>
        </p:spPr>
      </p:sp>
      <p:sp>
        <p:nvSpPr>
          <p:cNvPr id="35" name="Shape 33"/>
          <p:cNvSpPr/>
          <p:nvPr/>
        </p:nvSpPr>
        <p:spPr>
          <a:xfrm>
            <a:off x="9646920" y="2468880"/>
            <a:ext cx="17007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646920" y="2468880"/>
            <a:ext cx="1700784" cy="4572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37" name="Text 35"/>
          <p:cNvSpPr/>
          <p:nvPr/>
        </p:nvSpPr>
        <p:spPr>
          <a:xfrm>
            <a:off x="9829800" y="2651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829800" y="29718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829800" y="3520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 / mercado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60520" y="4526280"/>
            <a:ext cx="5431536" cy="411480"/>
          </a:xfrm>
          <a:prstGeom prst="rect">
            <a:avLst/>
          </a:prstGeom>
          <a:solidFill>
            <a:srgbClr val="FBE1E8"/>
          </a:solidFill>
          <a:ln/>
        </p:spPr>
      </p:sp>
      <p:sp>
        <p:nvSpPr>
          <p:cNvPr id="41" name="Text 39"/>
          <p:cNvSpPr/>
          <p:nvPr/>
        </p:nvSpPr>
        <p:spPr>
          <a:xfrm>
            <a:off x="4160520" y="4526280"/>
            <a:ext cx="5431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 OPERACIONAL · 3 A 4 SEMANAS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médio fim-a-fim: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 28 dias úteis</a:t>
            </a:r>
            <a:pPr algn="ctr"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Capacidade real do time:  </a:t>
            </a:r>
            <a:pPr algn="ctr" indent="0" marL="0">
              <a:buNone/>
            </a:pPr>
            <a:r>
              <a:rPr lang="en-US" sz="16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 12 análises completas por mês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O PROCESSO ATUAL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razões pelas quais o escritório não escala — </a:t>
            </a:r>
            <a:pPr indent="0" marL="0">
              <a:lnSpc>
                <a:spcPct val="110000"/>
              </a:lnSpc>
              <a:buNone/>
            </a:pPr>
            <a:r>
              <a:rPr lang="en-US" sz="3000" i="1" dirty="0">
                <a:solidFill>
                  <a:srgbClr val="C6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com mais gente.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77440"/>
            <a:ext cx="54864" cy="187452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documental manual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4 semanas lendo balanços, contratos, atas e laudos para cada ativo. O analista vira leitor de PDF.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237744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2377440"/>
            <a:ext cx="54864" cy="187452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65392" y="2926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Triagem custa o mesmo de fechar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65392" y="34747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ruins consomem horas idênticas aos bons. O custo de qualificação é igual para todos.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434840"/>
            <a:ext cx="54864" cy="187452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sobrecarregado e disperso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55321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Sênior fazendo trabalho de júnior. Júnior fazendo trabalho operacional. Ninguém pensando estratégia.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9632" y="443484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4434840"/>
            <a:ext cx="54864" cy="187452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65392" y="49834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Crescer significa contratar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65392" y="55321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volume = mais cabeça = mais custo fixo. Escala linear travada em folha de pagamento.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OS QUATRO GARGALOS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F3FA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INVISÍVEL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não está perdendo prazo.
</a:t>
            </a:r>
            <a:pPr indent="0" marL="0">
              <a:lnSpc>
                <a:spcPct val="105000"/>
              </a:lnSpc>
              <a:buNone/>
            </a:pPr>
            <a:r>
              <a:rPr lang="en-US" sz="60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perdendo deals.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gargalo operacional é um cheque que o seu concorrente vai descontar — pelo deal que você analisou devagar demais para fechar.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1F2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6C7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O CUSTO INVISÍVEL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9904" y="1097280"/>
            <a:ext cx="0" cy="420624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i="1" dirty="0">
                <a:solidFill>
                  <a:srgbClr val="8C97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se compra tempo.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0" y="237744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é exatamente isso que vendemos.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1F2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6C7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 · O PONTO DE VIRADA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 PLATAFORMA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Mandor é uma </a:t>
            </a:r>
            <a:pPr indent="0" marL="0">
              <a:lnSpc>
                <a:spcPct val="110000"/>
              </a:lnSpc>
              <a:buNone/>
            </a:pPr>
            <a:r>
              <a:rPr lang="en-US" sz="3200" i="1" dirty="0">
                <a:solidFill>
                  <a:srgbClr val="1655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neural especializada</a:t>
            </a:r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em análise empresarial, financeira e estratégica.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Construída para escritórios de M&amp;A, fundos de crédito estruturado, assessorias e intermediários que precisam analisar mais ativos, melhor, em frações do tempo que o mercado pratica.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3703320"/>
            <a:ext cx="54864" cy="246888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 em paralelo em cada análise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70332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3703320"/>
            <a:ext cx="54864" cy="246888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4h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65760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análise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upload ao dossiê institucional pronto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70332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3703320"/>
            <a:ext cx="54864" cy="246888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49224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output sai com a sua marca, não a nossa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370332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0" y="3703320"/>
            <a:ext cx="54864" cy="246888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7d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932688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operar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completo e go-live institucional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· INTRODUÇÃO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 PLATAFORMA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entra em uma análise Mandor.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frentes de trabalho que normalmente exigem times distintos — entregues em paralelo, em um único pipeline.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7066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59152"/>
            <a:ext cx="320040" cy="32004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8163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de mercado ao vivo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macro, setor, comparáveis e múltiplos atualizados a cada análise.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74136" y="2103120"/>
            <a:ext cx="27066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2359152"/>
            <a:ext cx="320040" cy="32004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8163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documental completa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02736" y="333756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Balanços, atas, contratos, laudos e papers, lidos e cruzados automaticamente.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9632" y="2103120"/>
            <a:ext cx="27066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28232" y="2359152"/>
            <a:ext cx="320040" cy="32004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28232" y="28163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 do ativo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8232" y="333756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Maturidade, perfil de risco, viabilidade e enquadramento para mercado.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25128" y="2103120"/>
            <a:ext cx="27066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53728" y="2359152"/>
            <a:ext cx="320040" cy="32004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22" name="Text 20"/>
          <p:cNvSpPr/>
          <p:nvPr/>
        </p:nvSpPr>
        <p:spPr>
          <a:xfrm>
            <a:off x="9253728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53728" y="28163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Sugestão de melhorias estratégicas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53728" y="333756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ativo precisa evoluir antes de ser ofertado ao mercado.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61388" y="4279392"/>
            <a:ext cx="27066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189988" y="4535424"/>
            <a:ext cx="320040" cy="32004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27" name="Text 25"/>
          <p:cNvSpPr/>
          <p:nvPr/>
        </p:nvSpPr>
        <p:spPr>
          <a:xfrm>
            <a:off x="2189988" y="4535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89988" y="4992624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Estruturação da melhor solução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89988" y="5513832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CRI, CRA, debêntures, M&amp;A, equity, dívida — ranqueado por viabilidade real.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86884" y="4279392"/>
            <a:ext cx="27066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15484" y="4535424"/>
            <a:ext cx="320040" cy="32004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32" name="Text 30"/>
          <p:cNvSpPr/>
          <p:nvPr/>
        </p:nvSpPr>
        <p:spPr>
          <a:xfrm>
            <a:off x="5015484" y="4535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15484" y="4992624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 Teaser institucional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15484" y="5513832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mercado calibrado, com a sua identidade visual, pronto para envio.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12380" y="4279392"/>
            <a:ext cx="27066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840980" y="4535424"/>
            <a:ext cx="320040" cy="32004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37" name="Text 35"/>
          <p:cNvSpPr/>
          <p:nvPr/>
        </p:nvSpPr>
        <p:spPr>
          <a:xfrm>
            <a:off x="7840980" y="4535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840980" y="4992624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Cruzamento e oportunidades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840980" y="5513832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conexões entre ativos, perfis de comprador ideal e padrões de tese.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· O QUE ENTRA EM CADA ANÁLISE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1F3F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 PLATAFORMA · VELOCIDADE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três semanas para quatro horas.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108960"/>
          </a:xfrm>
          <a:prstGeom prst="rect">
            <a:avLst/>
          </a:prstGeom>
          <a:solidFill>
            <a:srgbClr val="13234D"/>
          </a:solidFill>
          <a:ln w="12700">
            <a:solidFill>
              <a:srgbClr val="1F2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54864" cy="310896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TRADICIONAL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 4</a:t>
            </a:r>
            <a:pPr indent="0" marL="0">
              <a:buNone/>
            </a:pPr>
            <a:r>
              <a:rPr lang="en-US" sz="22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semanas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uma única análise completa, com equipe sênior dedicada e custo de oportunidade alto.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79592" y="32918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291072" y="2011680"/>
            <a:ext cx="5349240" cy="3108960"/>
          </a:xfrm>
          <a:prstGeom prst="rect">
            <a:avLst/>
          </a:prstGeom>
          <a:solidFill>
            <a:srgbClr val="1F3FAE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2011680"/>
            <a:ext cx="54864" cy="3108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MANDOR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11112" y="2514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indent="0" marL="0">
              <a:buNone/>
            </a:pPr>
            <a:r>
              <a:rPr lang="en-US" sz="2200" dirty="0">
                <a:solidFill>
                  <a:srgbClr val="E0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horas</a:t>
            </a:r>
            <a:endParaRPr lang="en-US" sz="11000" dirty="0"/>
          </a:p>
        </p:txBody>
      </p:sp>
      <p:sp>
        <p:nvSpPr>
          <p:cNvPr id="15" name="Text 13"/>
          <p:cNvSpPr/>
          <p:nvPr/>
        </p:nvSpPr>
        <p:spPr>
          <a:xfrm>
            <a:off x="6611112" y="4160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C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Dossiê institucional completo, com identidade do seu escritório, pronto para reunião.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cerca de </a:t>
            </a:r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tempo médio de análise, mantendo padrão institucional em 100% dos outputs.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1F2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6C7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· O GANHO DE VELOCIDADE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 PLATAFORMA · ARQUITETURA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uma IA generalista. 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1655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10 especialistas operando ao mesmo tempo.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1579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99616" y="2478024"/>
            <a:ext cx="1042416" cy="274320"/>
          </a:xfrm>
          <a:prstGeom prst="roundRect">
            <a:avLst>
              <a:gd name="adj" fmla="val 43333"/>
            </a:avLst>
          </a:prstGeom>
          <a:solidFill>
            <a:srgbClr val="DCE6FD"/>
          </a:solidFill>
          <a:ln w="12700">
            <a:solidFill>
              <a:srgbClr val="DC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247802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&amp; DRS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2918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Readiness Score, mapa de risco e sequência do pipeline.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1780" y="2331720"/>
            <a:ext cx="21579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6372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62756" y="2478024"/>
            <a:ext cx="1042416" cy="274320"/>
          </a:xfrm>
          <a:prstGeom prst="roundRect">
            <a:avLst>
              <a:gd name="adj" fmla="val 43333"/>
            </a:avLst>
          </a:prstGeom>
          <a:solidFill>
            <a:srgbClr val="DCE6FD"/>
          </a:solidFill>
          <a:ln w="12700">
            <a:solidFill>
              <a:srgbClr val="DC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2756" y="247802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976372" y="2834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Viabilidade de Mercado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6372" y="32918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setorial, demanda projetada, parecer Go / No-Go.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74920" y="2331720"/>
            <a:ext cx="21579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39512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25896" y="2478024"/>
            <a:ext cx="1042416" cy="274320"/>
          </a:xfrm>
          <a:prstGeom prst="roundRect">
            <a:avLst>
              <a:gd name="adj" fmla="val 43333"/>
            </a:avLst>
          </a:prstGeom>
          <a:solidFill>
            <a:srgbClr val="DCE6FD"/>
          </a:solidFill>
          <a:ln w="12700">
            <a:solidFill>
              <a:srgbClr val="DCE6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25896" y="247802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239512" y="2834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Tese &amp; Valuation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9512" y="32918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de aquisição, múltiplos, DCF e estratégia de negociação.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38060" y="2331720"/>
            <a:ext cx="21579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02652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89036" y="2478024"/>
            <a:ext cx="1042416" cy="274320"/>
          </a:xfrm>
          <a:prstGeom prst="roundRect">
            <a:avLst>
              <a:gd name="adj" fmla="val 43333"/>
            </a:avLst>
          </a:prstGeom>
          <a:solidFill>
            <a:srgbClr val="DCE6FD"/>
          </a:solidFill>
          <a:ln w="12700">
            <a:solidFill>
              <a:srgbClr val="DC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9036" y="247802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502652" y="2834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Financeiro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02652" y="32918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ajustado, endividamento, fluxo de caixa, tendências.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601200" y="2331720"/>
            <a:ext cx="21579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65792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52176" y="2478024"/>
            <a:ext cx="1042416" cy="274320"/>
          </a:xfrm>
          <a:prstGeom prst="roundRect">
            <a:avLst>
              <a:gd name="adj" fmla="val 43333"/>
            </a:avLst>
          </a:prstGeom>
          <a:solidFill>
            <a:srgbClr val="DCE6FD"/>
          </a:solidFill>
          <a:ln w="12700">
            <a:solidFill>
              <a:srgbClr val="DCE6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52176" y="247802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765792" y="2834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Jurídica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65792" y="32918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legais, lacunas, NDA / SHA / LOI aplicáveis.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206240"/>
            <a:ext cx="21579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3232" y="43525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499616" y="4352544"/>
            <a:ext cx="1042416" cy="274320"/>
          </a:xfrm>
          <a:prstGeom prst="roundRect">
            <a:avLst>
              <a:gd name="adj" fmla="val 43333"/>
            </a:avLst>
          </a:prstGeom>
          <a:solidFill>
            <a:srgbClr val="DCE6FD"/>
          </a:solidFill>
          <a:ln w="12700">
            <a:solidFill>
              <a:srgbClr val="DCE6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9616" y="435254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13232" y="47091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 Estruturado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3232" y="516636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CRI, CRA, debêntures e securitização, ranqueados por viabilidade.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811780" y="4206240"/>
            <a:ext cx="21579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976372" y="43525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762756" y="4352544"/>
            <a:ext cx="1042416" cy="274320"/>
          </a:xfrm>
          <a:prstGeom prst="roundRect">
            <a:avLst>
              <a:gd name="adj" fmla="val 43333"/>
            </a:avLst>
          </a:prstGeom>
          <a:solidFill>
            <a:srgbClr val="DCE6FD"/>
          </a:solidFill>
          <a:ln w="12700">
            <a:solidFill>
              <a:srgbClr val="DCE6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62756" y="435254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ORIGINAÇÃO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76372" y="47091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Compradores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976372" y="516636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do ativo e perfil ideal de comprador / investidor.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74920" y="4206240"/>
            <a:ext cx="21579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239512" y="43525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025896" y="4352544"/>
            <a:ext cx="1042416" cy="274320"/>
          </a:xfrm>
          <a:prstGeom prst="roundRect">
            <a:avLst>
              <a:gd name="adj" fmla="val 43333"/>
            </a:avLst>
          </a:prstGeom>
          <a:solidFill>
            <a:srgbClr val="DCE6FD"/>
          </a:solidFill>
          <a:ln w="12700">
            <a:solidFill>
              <a:srgbClr val="DCE6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25896" y="435254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239512" y="47091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Maturidade do Deal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239512" y="516636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Prontidão para mercado e roadmap de preparação quando aplicável.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338060" y="4206240"/>
            <a:ext cx="21579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502652" y="43525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289036" y="4352544"/>
            <a:ext cx="1042416" cy="274320"/>
          </a:xfrm>
          <a:prstGeom prst="roundRect">
            <a:avLst>
              <a:gd name="adj" fmla="val 43333"/>
            </a:avLst>
          </a:prstGeom>
          <a:solidFill>
            <a:srgbClr val="DCE6FD"/>
          </a:solidFill>
          <a:ln w="12700">
            <a:solidFill>
              <a:srgbClr val="DCE6F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89036" y="435254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502652" y="47091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Engine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502652" y="516636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módulos, identifica divergências e força reconciliação.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601200" y="4206240"/>
            <a:ext cx="21579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765792" y="43525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552176" y="4352544"/>
            <a:ext cx="1042416" cy="274320"/>
          </a:xfrm>
          <a:prstGeom prst="roundRect">
            <a:avLst>
              <a:gd name="adj" fmla="val 43333"/>
            </a:avLst>
          </a:prstGeom>
          <a:solidFill>
            <a:srgbClr val="DCE6FD"/>
          </a:solidFill>
          <a:ln w="12700">
            <a:solidFill>
              <a:srgbClr val="DCE6F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52176" y="435254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FINAL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9765792" y="47091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Reviewer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765792" y="516636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crítica de fechamento antes da entrega ao cliente.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deal passa por 10 análises simultâneas. Nenhuma equipe humana opera nessa arquitetura.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· 10 INTELIGÊNCIAS EM PARALELO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1F3FAE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INTELIGÊNCIA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Treinada em milhões de páginas de deals, balanços e operações estruturadas.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611880" cy="3291840"/>
          </a:xfrm>
          <a:prstGeom prst="rect">
            <a:avLst/>
          </a:prstGeom>
          <a:solidFill>
            <a:srgbClr val="13234D"/>
          </a:solidFill>
          <a:ln w="12700">
            <a:solidFill>
              <a:srgbClr val="1F2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4572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especializados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das 10 inteligências é um modelo dedicado, calibrado para um domínio técnico — não um chatbot generalista respondendo sobre tudo.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606040"/>
            <a:ext cx="3611880" cy="3291840"/>
          </a:xfrm>
          <a:prstGeom prst="rect">
            <a:avLst/>
          </a:prstGeom>
          <a:solidFill>
            <a:srgbClr val="13234D"/>
          </a:solidFill>
          <a:ln w="12700">
            <a:solidFill>
              <a:srgbClr val="1F2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606040"/>
            <a:ext cx="4572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Cruzamento entre módulos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Consistency Engine força reconciliação entre as leituras dos 10 módulos durante o pipeline, antes do dossiê ser fechado.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606040"/>
            <a:ext cx="3611880" cy="3291840"/>
          </a:xfrm>
          <a:prstGeom prst="rect">
            <a:avLst/>
          </a:prstGeom>
          <a:solidFill>
            <a:srgbClr val="13234D"/>
          </a:solidFill>
          <a:ln w="12700">
            <a:solidFill>
              <a:srgbClr val="1F2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606040"/>
            <a:ext cx="4572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6676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crítica final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Quality Reviewer audita coerência narrativa, completude técnica e consistência entre outputs antes da entrega institucional.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profissional humano lê, cruza e estrutura nessa velocidade — esse é, exatamente, o ponto.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1F2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6C7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· AUTORIDADE TÉCNICA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INTELIGÊNCIA · SEGURANÇA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Engenheirada para o padrão de quem opera deals confidenciais.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406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5328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Criptografia institucional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em trânsito · AES-256 em repouso · chaves segregadas por escritório.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2240280"/>
            <a:ext cx="54406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514600"/>
            <a:ext cx="365760" cy="36576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22592" y="25328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Ambientes isolados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22592" y="30175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escritório opera em ambiente dedicado. Nenhum dado cruza entre clientes.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0792"/>
            <a:ext cx="54406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5112"/>
            <a:ext cx="365760" cy="36576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3434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Aderência LGPD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71600" y="48280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Operamos como operador, com DPA disponível e tratamento técnico de finance papers.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4050792"/>
            <a:ext cx="54406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325112"/>
            <a:ext cx="365760" cy="36576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22592" y="43434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de cada análise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022592" y="48280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completo, versionamento de outputs e rastreabilidade de cada execução.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pPr algn="ctr"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AES-256   ·   </a:t>
            </a:r>
            <a:pPr algn="ctr"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LGPD-Ready</a:t>
            </a:r>
            <a:pPr algn="ctr"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Disponível</a:t>
            </a:r>
            <a:pPr algn="ctr"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isolados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· SEGURANÇA INSTITUCIONAL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ECONOMIA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verdadeiro custo de continuar fazendo do jeito antigo.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cenários comparados em uma operação típica de 20 análises por mês.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54864" cy="379476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interno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R$ 80.000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mês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assessores em folha + encargos + estrutura.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3063240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80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Controle direto da operação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Curva de aprendizado proprietária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257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Escala linear: mais volume = mais cabeça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Variação grande na qualidade do output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Capacidade real: 8 a 12 análises completas/mês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79392" y="2057400"/>
            <a:ext cx="361188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9392" y="2057400"/>
            <a:ext cx="54864" cy="3794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02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53712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Terceirização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53712" y="3108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 – 2%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53712" y="3520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53712" y="3840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 e consultorias por demanda.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53712" y="4389120"/>
            <a:ext cx="3063240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4480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 zero quando não fecha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Time externo qualificado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53712" y="5257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Padrão variável entre prestadores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Sem acervo, sem aprendizado interno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Conflito de prioridade entre clientes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10144" y="2057400"/>
            <a:ext cx="3611880" cy="3794760"/>
          </a:xfrm>
          <a:prstGeom prst="rect">
            <a:avLst/>
          </a:prstGeom>
          <a:solidFill>
            <a:srgbClr val="0A1635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10144" y="2057400"/>
            <a:ext cx="54864" cy="379476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27" name="Text 25"/>
          <p:cNvSpPr/>
          <p:nvPr/>
        </p:nvSpPr>
        <p:spPr>
          <a:xfrm>
            <a:off x="8284464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03 · MANDOR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84464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+ IA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84464" y="3108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R$ 25k + R$ 3k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284464" y="3520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mensal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84464" y="3840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institucional com match aplicado.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84464" y="4389120"/>
            <a:ext cx="3063240" cy="0"/>
          </a:xfrm>
          <a:prstGeom prst="line">
            <a:avLst/>
          </a:prstGeom>
          <a:noFill/>
          <a:ln w="6350">
            <a:solidFill>
              <a:srgbClr val="2A38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4480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Capacidade &gt; 40 análises/mês sem nova contratação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Padrão institucional em 100% das entregas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Acervo e aprendizado proprietários do escritório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84464" y="5257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Curva de adoção de 2 a 3 semanas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operacional anual equivalente:  </a:t>
            </a:r>
            <a:pPr algn="ctr" indent="0" marL="0">
              <a:buNone/>
            </a:pPr>
            <a:r>
              <a:rPr lang="en-US" sz="1600" b="1" spc="200" kern="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R$ 920.000+</a:t>
            </a:r>
            <a:pPr algn="ctr" indent="0" marL="0">
              <a:buNone/>
            </a:pPr>
            <a:r>
              <a:rPr lang="en-US" sz="1200" spc="200" kern="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Sem custo proporcional ao volume.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· COMPARATIVO OPERACIONAL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 NOVO PADRÃO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seu escritório antes e depois da Mandor.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66944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" cy="443484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manual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73368" y="1828800"/>
            <a:ext cx="5266944" cy="4434840"/>
          </a:xfrm>
          <a:prstGeom prst="rect">
            <a:avLst/>
          </a:prstGeom>
          <a:solidFill>
            <a:srgbClr val="0A1635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828800"/>
            <a:ext cx="54864" cy="44348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6739128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39128" y="228600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assistida por IA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14400" y="2880360"/>
            <a:ext cx="4718304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39128" y="2880360"/>
            <a:ext cx="4718304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4436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3 a 4 semanas por análise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39128" y="294436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Até 4 horas, fim a fim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3383280"/>
            <a:ext cx="4718304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39128" y="3383280"/>
            <a:ext cx="4718304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4728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8 a 12 deals analisáveis por mês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39128" y="344728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40+ deals analisáveis por mês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3886200"/>
            <a:ext cx="4718304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39128" y="3886200"/>
            <a:ext cx="4718304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95020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Padrão variável por analista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39128" y="395020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Padrão institucional em todos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400" y="4389120"/>
            <a:ext cx="4718304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39128" y="4389120"/>
            <a:ext cx="4718304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45312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Sênior em triagem operacional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39128" y="445312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Sênior em decisão e cliente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4400" y="4892040"/>
            <a:ext cx="4718304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39128" y="4892040"/>
            <a:ext cx="4718304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95604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Crescer = contratar = custo fixo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39128" y="495604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Crescer = escalar sem nova folha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14400" y="5394960"/>
            <a:ext cx="4718304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39128" y="5394960"/>
            <a:ext cx="4718304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45896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Material gerado às pressas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739128" y="5458968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Pitchbook e teaser white-label prontos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NOVO PADRÃO · ANTES E DEPOIS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6400800" cy="64008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1F3FAE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WHITE-LABEL &amp; EXCLUSIVIDADE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não é nossa.
</a:t>
            </a:r>
            <a:pPr indent="0" marL="0">
              <a:lnSpc>
                <a:spcPct val="105000"/>
              </a:lnSpc>
              <a:buNone/>
            </a:pPr>
            <a:r>
              <a:rPr lang="en-US" sz="70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sua.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cliente abre o relatório, ele vê o seu escritório. Não a Mandor. A inteligência é nossa engenharia — a autoridade é da sua marca.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1F2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6C7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· A VIRADA DE POSICIONAMENTO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WHITE-LABEL · PERSONALIZAÇÃO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adaptamos a plataforma à realidade do seu escritório.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48840"/>
            <a:ext cx="640080" cy="178308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4048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visual completa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898648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Logotipo, paleta, tipografia, capa, dossiê e teaser saem 100% com a marca do escritório. Nenhuma menção à Mandor no material entregue ao cliente final.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214884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2148840"/>
            <a:ext cx="640080" cy="178308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22592" y="24048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Fluxos sob medida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22592" y="2898648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Adaptamos o pipeline aos seus processos: comitês internos, etapas extras de revisão, integração com ferramentas atuais e governança da casa.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096512"/>
            <a:ext cx="640080" cy="178308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62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35254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exclusivo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escritório opera em um tenant dedicado. Dados, prompts, modelos calibrados e histórico ficam isolados — não cruzam com nenhum outro cliente.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4096512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4096512"/>
            <a:ext cx="640080" cy="178308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4462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435254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Acervo proprietário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22592" y="48463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aprende com o histórico das suas operações: teses, decisões, ajustes editoriais. Quanto mais você usa, mais ela vira a sua IA.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 SaaS com seu logo no topo — é uma inteligência embutida no jeito que o seu escritório opera.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· QUATRO FRENTES DE PERSONALIZAÇÃO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WHITE-LABEL · VANTAGEM COMPETITIVA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IA. Seu padrão. </a:t>
            </a:r>
            <a:pPr indent="0" marL="0">
              <a:buNone/>
            </a:pPr>
            <a:r>
              <a:rPr lang="en-US" sz="3600" i="1" dirty="0">
                <a:solidFill>
                  <a:srgbClr val="1655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acervo.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de tecnologia se diferenciam por dados e modelos. Escritórios de M&amp;A, crédito e assessoria, historicamente, não tinham essa camada.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55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Mandor inverte essa equação: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Cada análise alimenta um corpus exclusivo do seu escritório.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Cada ajuste editorial vira padrão proprietário da sua marca.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Cada decisão registrada vira tese reaplicável em futuros deals.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Cada cliente atendido fortalece a inteligência que só você opera.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92240" y="2011680"/>
            <a:ext cx="5148072" cy="4206240"/>
          </a:xfrm>
          <a:prstGeom prst="rect">
            <a:avLst/>
          </a:prstGeom>
          <a:solidFill>
            <a:srgbClr val="0A1635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0" y="2011680"/>
            <a:ext cx="54864" cy="4206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DEFENSÁVEL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26974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primeira vez, um escritório de deals pode dizer que tem o seu próprio modelo de inteligência institucional.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66560" y="4663440"/>
            <a:ext cx="4297680" cy="0"/>
          </a:xfrm>
          <a:prstGeom prst="line">
            <a:avLst/>
          </a:prstGeom>
          <a:noFill/>
          <a:ln w="6350">
            <a:solidFill>
              <a:srgbClr val="2A38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4846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terceirizado.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alugado.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Proprietário — e calibrado para o seu jeito de operar.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· VANTAGEM DEFENSÁVEL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PROPOSTA COMERCIAL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caminhos para entrar.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planos com identidade do seu escritório, dados isolados e suporte institucional.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avulso · por análise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R$ 3.500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493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análise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8221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escritórios com demanda esporádica ou que querem testar o padrão Mandor em um deal real.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3063240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completo das 10 inteligências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Dossiê institucional white-label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Teaser e pitchbook editáveis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Entrega no mesmo dia útil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9392" y="2194560"/>
            <a:ext cx="3611880" cy="3840480"/>
          </a:xfrm>
          <a:prstGeom prst="rect">
            <a:avLst/>
          </a:prstGeom>
          <a:solidFill>
            <a:srgbClr val="0A1635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05272" y="2011680"/>
            <a:ext cx="2194560" cy="32918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5605272" y="2011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DA CASA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53712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53712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 · mensal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3712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R$ 25.000 + R$ 3.000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53712" y="3493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mensalidade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53712" y="38221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escritórios com fluxo recorrente. Match inteligente entre ativos e potenciais compradores incluso.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53712" y="4480560"/>
            <a:ext cx="3063240" cy="0"/>
          </a:xfrm>
          <a:prstGeom prst="line">
            <a:avLst/>
          </a:prstGeom>
          <a:noFill/>
          <a:ln w="6350">
            <a:solidFill>
              <a:srgbClr val="2A38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Volume institucional de análises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Match inteligente ativo↔comprador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Identidade visual completa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Suporte prioritário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Acervo proprietário do escritório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10144" y="219456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84464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84464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· sob medida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84464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 consulta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84464" y="3493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integrações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84464" y="38221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redes de escritórios, fundos e estruturas com alto volume. SLA, integrações e governança dedicados.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84464" y="4480560"/>
            <a:ext cx="3063240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84464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Volume e SLA negociados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Integração com sistemas internos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Onboarding dedicado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Gestor de conta exclusivo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Acordo de confidencialidade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e mensalidade do Institucional somam menos do que um único deal não fechado por demora.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· TRÊS CAMINHOS PARA ENTRAR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IMPLANTAÇÃO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opera em sete dias úteis.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institucional, sem complexidade técnica do lado do escritório.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10607040" cy="0"/>
          </a:xfrm>
          <a:prstGeom prst="line">
            <a:avLst/>
          </a:prstGeom>
          <a:noFill/>
          <a:ln w="12700">
            <a:solidFill>
              <a:srgbClr val="E4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9616" y="4187952"/>
            <a:ext cx="219456" cy="219456"/>
          </a:xfrm>
          <a:prstGeom prst="ellipse">
            <a:avLst/>
          </a:prstGeom>
          <a:solidFill>
            <a:srgbClr val="1655E8"/>
          </a:solidFill>
          <a:ln w="25400">
            <a:solidFill>
              <a:srgbClr val="F6F7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31089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Assinatura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36576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Contrato, NDA mútuo e onboarding agendado.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21024" y="4187952"/>
            <a:ext cx="219456" cy="219456"/>
          </a:xfrm>
          <a:prstGeom prst="ellipse">
            <a:avLst/>
          </a:prstGeom>
          <a:solidFill>
            <a:srgbClr val="1655E8"/>
          </a:solidFill>
          <a:ln w="25400">
            <a:solidFill>
              <a:srgbClr val="F6F7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2743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D+2 a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31089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setup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834640" y="36576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Logotipo, paleta, capa e identidade dos outputs.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42432" y="4187952"/>
            <a:ext cx="219456" cy="219456"/>
          </a:xfrm>
          <a:prstGeom prst="ellipse">
            <a:avLst/>
          </a:prstGeom>
          <a:solidFill>
            <a:srgbClr val="1655E8"/>
          </a:solidFill>
          <a:ln w="25400">
            <a:solidFill>
              <a:srgbClr val="F6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2743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D+4 a 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31089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Calibração de fluxo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956048" y="36576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Encaixe nos comitês e governança internos.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4187952"/>
            <a:ext cx="219456" cy="219456"/>
          </a:xfrm>
          <a:prstGeom prst="ellipse">
            <a:avLst/>
          </a:prstGeom>
          <a:solidFill>
            <a:srgbClr val="1655E8"/>
          </a:solidFill>
          <a:ln w="25400">
            <a:solidFill>
              <a:srgbClr val="F6F7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2743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D+6 a 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86016" y="31089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Treinamento e go-live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077456" y="36576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treinado, primeira análise rodando.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85248" y="4187952"/>
            <a:ext cx="219456" cy="219456"/>
          </a:xfrm>
          <a:prstGeom prst="ellipse">
            <a:avLst/>
          </a:prstGeom>
          <a:solidFill>
            <a:srgbClr val="C9A961"/>
          </a:solidFill>
          <a:ln w="25400">
            <a:solidFill>
              <a:srgbClr val="F6F7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2743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D+30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07424" y="31089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Calibração estratégica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198864" y="36576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afinamento e acervo já em construção.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1091672" cy="137160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937760"/>
            <a:ext cx="54864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DE VOCÊ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 em vetor</a:t>
            </a:r>
            <a:pPr indent="0" marL="0">
              <a:buNone/>
            </a:pPr>
            <a:r>
              <a:rPr lang="en-US" sz="1300" dirty="0">
                <a:solidFill>
                  <a:srgbClr val="5B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preferida</a:t>
            </a:r>
            <a:pPr indent="0" marL="0">
              <a:buNone/>
            </a:pPr>
            <a:r>
              <a:rPr lang="en-US" sz="1300" dirty="0">
                <a:solidFill>
                  <a:srgbClr val="5B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comitês internos</a:t>
            </a:r>
            <a:pPr indent="0" marL="0">
              <a:buNone/>
            </a:pPr>
            <a:r>
              <a:rPr lang="en-US" sz="1300" dirty="0">
                <a:solidFill>
                  <a:srgbClr val="5B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deal real para o piloto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86000" y="6510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0" kern="0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· SETE DIAS ATÉ O PRIMEIRO GO-LIVE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058400" y="651052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F3FA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C9A96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FECHAMENTO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escritórios que vão vencer a próxima década
</a:t>
            </a:r>
            <a:pPr indent="0" marL="0">
              <a:lnSpc>
                <a:spcPct val="105000"/>
              </a:lnSpc>
              <a:buNone/>
            </a:pPr>
            <a:r>
              <a:rPr lang="en-US" sz="50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decidiram.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vai ser uma escolha técnica. Vai ser a diferença entre escritórios que escalam e escritórios que servem de comparativo.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11091672" cy="11430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120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passo — definir o piloto.</a:t>
            </a:r>
            <a:pPr indent="0" marL="0">
              <a:lnSpc>
                <a:spcPct val="130000"/>
              </a:lnSpc>
              <a:buNone/>
            </a:pP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deal real, executado pela Mandor em até 4 horas, sob a marca do seu escritório.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55280" y="5349240"/>
            <a:ext cx="3383280" cy="502920"/>
          </a:xfrm>
          <a:prstGeom prst="rect">
            <a:avLst/>
          </a:prstGeom>
          <a:solidFill>
            <a:srgbClr val="0A1635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5349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REUNIÃO DE DIAGNÓSTICO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pPr algn="ctr" indent="0" marL="0">
              <a:buNone/>
            </a:pPr>
            <a:r>
              <a:rPr lang="en-US" sz="1200" dirty="0">
                <a:solidFill>
                  <a:srgbClr val="5B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mandor@rr7x.com.br</a:t>
            </a:r>
            <a:pPr algn="ctr" indent="0" marL="0">
              <a:buNone/>
            </a:pPr>
            <a:r>
              <a:rPr lang="en-US" sz="1200" dirty="0">
                <a:solidFill>
                  <a:srgbClr val="5B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1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Mandor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Mandor · Apresentação Institucional</dc:title>
  <dc:subject>PptxGenJS Presentation</dc:subject>
  <dc:creator>Mandor</dc:creator>
  <cp:lastModifiedBy>Mandor</cp:lastModifiedBy>
  <cp:revision>1</cp:revision>
  <dcterms:created xsi:type="dcterms:W3CDTF">2026-05-19T23:27:51Z</dcterms:created>
  <dcterms:modified xsi:type="dcterms:W3CDTF">2026-05-19T23:27:51Z</dcterms:modified>
</cp:coreProperties>
</file>