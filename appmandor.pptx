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slide+xml" PartName="/ppt/slides/slide19.xml"/>
  <Override ContentType="application/vnd.openxmlformats-officedocument.presentationml.slide+xml" PartName="/ppt/slides/slide20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4" r:id="rId24"/>
    <p:sldId id="275" r:id="rId25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Fj9e9ML16iu/5VeVhOSVcenF3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23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lang="en-US" sz="1150">
                <a:solidFill>
                  <a:srgbClr val="B0ABA0"/>
                </a:solidFill>
              </a:rPr>
              <a:t>ABERTURA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0ABA0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3A38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01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68680" y="13258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2800"/>
              <a:buFont typeface="Georgia"/>
              <a:buNone/>
            </a:pPr>
            <a:r>
              <a:rPr b="0" i="0" lang="en-US" sz="28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MANDOR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71830" y="3692740"/>
            <a:ext cx="96927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4200"/>
              <a:buFont typeface="Georgia"/>
              <a:buNone/>
            </a:pP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No capital privado, o que custa</a:t>
            </a:r>
            <a:endParaRPr sz="3600">
              <a:solidFill>
                <a:srgbClr val="EDE9E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4200"/>
              <a:buFont typeface="Georgia"/>
              <a:buNone/>
            </a:pP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caro não é o tempo. </a:t>
            </a:r>
            <a:r>
              <a:rPr b="0" i="0" lang="en-US" sz="36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É o recomeço.</a:t>
            </a:r>
            <a:endParaRPr b="0" i="0" sz="3600" u="none" cap="none" strike="noStrike">
              <a:solidFill>
                <a:srgbClr val="8C6F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68680" y="50749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B0ABA0"/>
                </a:solidFill>
                <a:latin typeface="Courier New"/>
                <a:ea typeface="Courier New"/>
                <a:cs typeface="Courier New"/>
                <a:sym typeface="Courier New"/>
              </a:rPr>
              <a:t>Infraestrutura institucional para M&amp;A, crédito estruturado, originação e assessoria.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DIAGNÓSTICO · O CUSTO DO RECOMEÇO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2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"/>
          <p:cNvSpPr/>
          <p:nvPr/>
        </p:nvSpPr>
        <p:spPr>
          <a:xfrm>
            <a:off x="8549640" y="3383280"/>
            <a:ext cx="27432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CEAE3"/>
              </a:buClr>
              <a:buSzPts val="15000"/>
              <a:buFont typeface="Georgia"/>
              <a:buNone/>
            </a:pPr>
            <a:r>
              <a:t/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02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68680" y="1371600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000"/>
              <a:buFont typeface="Georgia"/>
              <a:buNone/>
            </a:pPr>
            <a:r>
              <a:rPr b="0" i="0" lang="en-US" sz="36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Toda análise começa do zero. </a:t>
            </a:r>
            <a:r>
              <a:rPr b="0" i="1" lang="en-US" sz="36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De novo.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68680" y="210310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C7A74"/>
                </a:solidFill>
              </a:rPr>
              <a:t>O racional que você já aplicou em deals passados não permanece quando o próximo chega.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68680" y="2880360"/>
            <a:ext cx="3246120" cy="237744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188720" y="3154680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200"/>
              <a:buFont typeface="Georgia"/>
              <a:buNone/>
            </a:pPr>
            <a:r>
              <a:rPr b="0" i="0" lang="en-US" sz="4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r>
              <a:rPr lang="en-US" sz="4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r>
              <a:rPr b="0" i="0" lang="en-US" sz="4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r>
              <a:rPr b="0" i="0" lang="en-US" sz="1600" u="none" cap="none" strike="noStrike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600" u="none" cap="none" strike="noStrike">
              <a:solidFill>
                <a:srgbClr val="7C7A7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200"/>
              <a:buFont typeface="Georgia"/>
              <a:buNone/>
            </a:pPr>
            <a:r>
              <a:rPr b="0" i="0" lang="en-US" sz="1600" u="none" cap="none" strike="noStrike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 semanas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188720" y="411480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O sênior relê balanços, contratos e laudos</a:t>
            </a:r>
            <a:r>
              <a:rPr lang="en-US" sz="1250">
                <a:solidFill>
                  <a:srgbClr val="4A4843"/>
                </a:solidFill>
              </a:rPr>
              <a:t> </a:t>
            </a:r>
            <a:r>
              <a:rPr b="0" i="0" lang="en-US" sz="12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refazendo um raciocínio que já fez antes.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26280" y="2880360"/>
            <a:ext cx="3246120" cy="237744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846320" y="3154680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200"/>
              <a:buFont typeface="Georgia"/>
              <a:buNone/>
            </a:pPr>
            <a:r>
              <a:rPr b="0" i="0" lang="en-US" sz="4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r>
              <a:rPr lang="en-US" sz="4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r>
              <a:rPr b="0" i="0" lang="en-US" sz="4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r>
              <a:rPr b="0" i="0" lang="en-US" sz="1600" u="none" cap="none" strike="noStrike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  <a:endParaRPr b="0" i="0" sz="1600" u="none" cap="none" strike="noStrike">
              <a:solidFill>
                <a:srgbClr val="7C7A7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200"/>
              <a:buFont typeface="Georgia"/>
              <a:buNone/>
            </a:pPr>
            <a:r>
              <a:rPr lang="en-US" sz="1600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análises </a:t>
            </a:r>
            <a:r>
              <a:rPr b="0" i="0" lang="en-US" sz="1600" u="none" cap="none" strike="noStrike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por mês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46320" y="411480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A capacidade real do time, travada não pela inteligência, mas pelo retrabalho manual.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183880" y="2880360"/>
            <a:ext cx="3246120" cy="237744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503920" y="3154680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200"/>
              <a:buFont typeface="Georgia"/>
              <a:buNone/>
            </a:pPr>
            <a:r>
              <a:rPr lang="en-US" sz="4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Z</a:t>
            </a:r>
            <a:r>
              <a:rPr b="0" i="0" lang="en-US" sz="4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ero</a:t>
            </a:r>
            <a:r>
              <a:rPr b="0" i="0" lang="en-US" sz="1600" u="none" cap="none" strike="noStrike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  <a:endParaRPr b="0" i="0" sz="1600" u="none" cap="none" strike="noStrike">
              <a:solidFill>
                <a:srgbClr val="7C7A7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200"/>
              <a:buFont typeface="Georgia"/>
              <a:buNone/>
            </a:pPr>
            <a:r>
              <a:rPr lang="en-US" sz="1600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continuidade 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503920" y="411480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4A4843"/>
                </a:solidFill>
              </a:rPr>
              <a:t>Cada deal encerrado leva embora o racional que o sustentou.</a:t>
            </a:r>
            <a:endParaRPr sz="125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rgbClr val="4A4843"/>
              </a:solidFill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68680" y="55778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500"/>
              <a:buFont typeface="Georgia"/>
              <a:buNone/>
            </a:pPr>
            <a:r>
              <a:rPr i="1" lang="en-US" sz="18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 lentidão não é o problema. É o sintoma de uma inteligência institucional que nunca permaneceu.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DIAGNÓSTICO · O PROCESSO ATUAL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3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3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03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68680" y="1371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Como o seu escritório opera hoje.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68680" y="213055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C7A74"/>
                </a:solidFill>
              </a:rPr>
              <a:t>Um ciclo linear, com o gargalo concentrado onde o racional deveria ser aplicado e onde,</a:t>
            </a:r>
            <a:endParaRPr sz="1500">
              <a:solidFill>
                <a:srgbClr val="7C7A74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C7A74"/>
                </a:solidFill>
              </a:rPr>
              <a:t>hoje, ele ainda é reconstruído manualmente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68680" y="2971800"/>
            <a:ext cx="1627632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868680" y="2971800"/>
            <a:ext cx="1627632" cy="64008"/>
          </a:xfrm>
          <a:prstGeom prst="rect">
            <a:avLst/>
          </a:prstGeom>
          <a:solidFill>
            <a:srgbClr val="211F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1051560" y="31546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51560" y="3447288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Captação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51560" y="3867912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Origem do deal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642616" y="2971800"/>
            <a:ext cx="1627632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2642616" y="2971800"/>
            <a:ext cx="1627632" cy="64008"/>
          </a:xfrm>
          <a:prstGeom prst="rect">
            <a:avLst/>
          </a:prstGeom>
          <a:solidFill>
            <a:srgbClr val="211F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2825496" y="31546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825496" y="3447288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Reunião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825496" y="3867912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Briefing inicial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416552" y="2971800"/>
            <a:ext cx="1627632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416552" y="2971800"/>
            <a:ext cx="1627632" cy="64008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599432" y="31546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599432" y="3447288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Documentos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99432" y="3867912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Coleta de papers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190488" y="2971800"/>
            <a:ext cx="1627632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190488" y="2971800"/>
            <a:ext cx="1627632" cy="64008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373368" y="31546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373368" y="3447288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Triagem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373368" y="3867912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Apto?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964424" y="2971800"/>
            <a:ext cx="1627632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964424" y="2971800"/>
            <a:ext cx="1627632" cy="64008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8147304" y="31546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147304" y="3447288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Estruturação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147304" y="3867912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Solução técnica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9738360" y="2971800"/>
            <a:ext cx="1627632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9738360" y="2971800"/>
            <a:ext cx="1627632" cy="64008"/>
          </a:xfrm>
          <a:prstGeom prst="rect">
            <a:avLst/>
          </a:prstGeom>
          <a:solidFill>
            <a:srgbClr val="211F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9921240" y="31546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921240" y="3447288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Fechamento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921240" y="3867912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Mandato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416552" y="4617720"/>
            <a:ext cx="51755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1" lang="en-US" sz="1250">
                <a:solidFill>
                  <a:srgbClr val="8C6F45"/>
                </a:solidFill>
              </a:rPr>
              <a:t>ONDE O CONTEXTO SE PERDE · 3 A 4 SEMANAS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68680" y="5285232"/>
            <a:ext cx="10424160" cy="841248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143000" y="5285232"/>
            <a:ext cx="98755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600"/>
              <a:buFont typeface="Georgia"/>
              <a:buNone/>
            </a:pPr>
            <a:r>
              <a:rPr b="0" i="0" lang="en-US" sz="1800" u="none" cap="none" strike="noStrike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Ciclo médio fim-a-fim:  </a:t>
            </a:r>
            <a:r>
              <a:rPr b="1" i="0" lang="en-US" sz="18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21 a 28 dias úteis</a:t>
            </a:r>
            <a:r>
              <a:rPr b="0" i="0" lang="en-US" sz="1800" u="none" cap="none" strike="noStrike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      ·      Capacidade real:  </a:t>
            </a:r>
            <a:r>
              <a:rPr b="0" i="1" lang="en-US" sz="18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8 a 12 análises/mês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DIAGNÓSTICO · POR QUE NÃO ESCALA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4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4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04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68680" y="137160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Quatro razões pelas quais o escritório</a:t>
            </a:r>
            <a:endParaRPr sz="3200">
              <a:solidFill>
                <a:srgbClr val="211F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não escala</a:t>
            </a:r>
            <a:r>
              <a:rPr lang="en-US" sz="3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0" i="1" lang="en-US" sz="32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mesmo com mais gente.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68680" y="2788920"/>
            <a:ext cx="4983480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868680" y="2788920"/>
            <a:ext cx="64008" cy="1417320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188720" y="2971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188720" y="3246120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O racional permanece disperso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188720" y="3685032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4A4843"/>
                </a:solidFill>
              </a:rPr>
              <a:t>Semanas entre balanços, contratos e laudos. A inteligência da operação continua presa à leitura manual.</a:t>
            </a:r>
            <a:endParaRPr sz="125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rgbClr val="4A4843"/>
              </a:solidFill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309360" y="2788920"/>
            <a:ext cx="4983480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6309360" y="2788920"/>
            <a:ext cx="64008" cy="1417320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629400" y="2971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629400" y="3246120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Triagem custa o mesmo de fechar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629400" y="3685032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A4843"/>
                </a:solidFill>
              </a:rPr>
              <a:t>Deals ruins consomem horas idênticas aos bons. Cada operação ainda exige reconstrução completa de contexto.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68680" y="4526280"/>
            <a:ext cx="4983480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868680" y="4526280"/>
            <a:ext cx="64008" cy="1417320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188720" y="4709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188720" y="4983480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O sênior faz trabalho de júnior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188720" y="5422392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A4843"/>
                </a:solidFill>
              </a:rPr>
              <a:t>O racional que deveria orientar a decisão é consumido reconstruindo análise já produzida antes.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309360" y="4526280"/>
            <a:ext cx="4983480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6309360" y="4526280"/>
            <a:ext cx="64008" cy="1417320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629400" y="4709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629400" y="4983480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Crescer significa contratar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629400" y="5422392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4A4843"/>
                </a:solidFill>
              </a:rPr>
              <a:t>Mais volume exige mais estrutura e mais custo fixo. A capacidade continua limitada operacionalmente.</a:t>
            </a:r>
            <a:endParaRPr sz="125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rgbClr val="4A48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232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B0ABA0"/>
                </a:solidFill>
                <a:latin typeface="Arial"/>
                <a:ea typeface="Arial"/>
                <a:cs typeface="Arial"/>
                <a:sym typeface="Arial"/>
              </a:rPr>
              <a:t>O DIAGNÓSTICO REAL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0ABA0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5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3A38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5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05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68680" y="1538697"/>
            <a:ext cx="9875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4200"/>
              <a:buFont typeface="Georgia"/>
              <a:buNone/>
            </a:pP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O problema nunca foi o tempo.</a:t>
            </a:r>
            <a:endParaRPr sz="3600">
              <a:solidFill>
                <a:srgbClr val="EDE9E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4200"/>
              <a:buFont typeface="Georgia"/>
              <a:buNone/>
            </a:pPr>
            <a:r>
              <a:rPr i="1" lang="en-US" sz="36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É a ausência de continuidade.</a:t>
            </a:r>
            <a:r>
              <a:rPr i="1" lang="en-US" sz="32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868680" y="3281125"/>
            <a:ext cx="9327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900"/>
              <a:buFont typeface="Georgia"/>
              <a:buNone/>
            </a:pPr>
            <a:r>
              <a:rPr b="0" i="0" lang="en-US" sz="1800" u="none" cap="none" strike="noStrike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O mercado privado movimenta capital institucional sobre memória pré-institucional. </a:t>
            </a:r>
            <a:r>
              <a:rPr lang="en-US" sz="18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O racional existe mas nunca permanece. Por isso cada análise recomeça do zero, e o que levaria horas leva semanas.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868680" y="489204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2200"/>
              <a:buFont typeface="Georgia"/>
              <a:buNone/>
            </a:pPr>
            <a:r>
              <a:rPr b="0" i="1" lang="en-US" sz="18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A </a:t>
            </a:r>
            <a:r>
              <a:rPr b="1" i="1" lang="en-US" sz="18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MANDOR</a:t>
            </a:r>
            <a:r>
              <a:rPr b="0" i="1" lang="en-US" sz="18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i="1" lang="en-US" sz="18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não vende velocidade. Institui continuidade e a velocidade é o que</a:t>
            </a:r>
            <a:endParaRPr i="1" sz="1800">
              <a:solidFill>
                <a:srgbClr val="8C6F4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2200"/>
              <a:buFont typeface="Georgia"/>
              <a:buNone/>
            </a:pPr>
            <a:r>
              <a:rPr i="1" lang="en-US" sz="18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aparece quando o recomeço desaparece.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A INFRAESTRUTURA · DEFINIÇÃO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6"/>
          <p:cNvSpPr/>
          <p:nvPr/>
        </p:nvSpPr>
        <p:spPr>
          <a:xfrm>
            <a:off x="8549640" y="2926080"/>
            <a:ext cx="27432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CEAE3"/>
              </a:buClr>
              <a:buSzPts val="15000"/>
              <a:buFont typeface="Georgia"/>
              <a:buNone/>
            </a:pPr>
            <a:r>
              <a:rPr b="0" i="0" lang="en-US" sz="15000" u="none" cap="none" strike="noStrike">
                <a:solidFill>
                  <a:srgbClr val="ECEAE3"/>
                </a:solidFill>
                <a:latin typeface="Georgia"/>
                <a:ea typeface="Georgia"/>
                <a:cs typeface="Georgia"/>
                <a:sym typeface="Georgia"/>
              </a:rPr>
              <a:t>06 / 20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06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68680" y="1371600"/>
            <a:ext cx="10424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000"/>
              <a:buFont typeface="Georgia"/>
              <a:buNone/>
            </a:pPr>
            <a:r>
              <a:rPr b="0" i="0" lang="en-US" sz="3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MANDOR é a infraestrutura que </a:t>
            </a:r>
            <a:r>
              <a:rPr lang="en-US" sz="32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preserva o racional</a:t>
            </a:r>
            <a:r>
              <a:rPr b="0" i="0" lang="en-US" sz="3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 do seu escritório</a:t>
            </a:r>
            <a:r>
              <a:rPr lang="en-US" sz="3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0" i="0" lang="en-US" sz="3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entre a documentação do deal e a decisão.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68680" y="2926075"/>
            <a:ext cx="10058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500">
                <a:solidFill>
                  <a:srgbClr val="7C7A74"/>
                </a:solidFill>
              </a:rPr>
              <a:t>onstruída para </a:t>
            </a:r>
            <a:r>
              <a:rPr b="1" lang="en-US" sz="1500">
                <a:solidFill>
                  <a:srgbClr val="7C7A74"/>
                </a:solidFill>
              </a:rPr>
              <a:t>escritórios de M&amp;A, fundos de crédito estruturado e assessorias.</a:t>
            </a:r>
            <a:r>
              <a:rPr lang="en-US" sz="1500">
                <a:solidFill>
                  <a:srgbClr val="7C7A74"/>
                </a:solidFill>
              </a:rPr>
              <a:t> A análise deixa de recomeçar do zero: o racional permanece, e cada deal fortalece a inteligência da casa.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68680" y="3858768"/>
            <a:ext cx="2395800" cy="18288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1124712" y="4133088"/>
            <a:ext cx="193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200"/>
              <a:buFont typeface="Georgia"/>
              <a:buNone/>
            </a:pPr>
            <a:r>
              <a:rPr lang="en-US" sz="2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preserva</a:t>
            </a:r>
            <a:endParaRPr sz="1300">
              <a:solidFill>
                <a:srgbClr val="8C6F4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200"/>
              <a:buFont typeface="Georgia"/>
              <a:buNone/>
            </a:pPr>
            <a:r>
              <a:rPr b="0" i="0" lang="en-US" sz="13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o </a:t>
            </a:r>
            <a:r>
              <a:rPr lang="en-US" sz="13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racional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124712" y="4864608"/>
            <a:ext cx="1892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método estruturado, versionado, reaplicável a cada deal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557016" y="3858768"/>
            <a:ext cx="2395800" cy="18288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3813048" y="4133088"/>
            <a:ext cx="193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~90</a:t>
            </a:r>
            <a:r>
              <a:rPr b="0" i="0" lang="en-US" sz="13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 minutos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813048" y="4864608"/>
            <a:ext cx="1892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da documentação ao</a:t>
            </a:r>
            <a:endParaRPr sz="115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dossiê </a:t>
            </a:r>
            <a:r>
              <a:rPr lang="en-US" sz="1150">
                <a:solidFill>
                  <a:srgbClr val="4A4843"/>
                </a:solidFill>
              </a:rPr>
              <a:t>institucional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245352" y="3858768"/>
            <a:ext cx="2395800" cy="18288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501384" y="4133088"/>
            <a:ext cx="193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100%</a:t>
            </a:r>
            <a:endParaRPr sz="1300">
              <a:solidFill>
                <a:srgbClr val="8C6F4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000"/>
              <a:buFont typeface="Georgia"/>
              <a:buNone/>
            </a:pPr>
            <a:r>
              <a:rPr b="0" i="0" lang="en-US" sz="13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white-label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501384" y="4864608"/>
            <a:ext cx="1892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todo output sai com a marca do seu escritório, não a nossa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933688" y="3858768"/>
            <a:ext cx="2395800" cy="18288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9189720" y="4133088"/>
            <a:ext cx="193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acervo</a:t>
            </a:r>
            <a:endParaRPr sz="1300">
              <a:solidFill>
                <a:srgbClr val="8C6F4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200"/>
              <a:buFont typeface="Georgia"/>
              <a:buNone/>
            </a:pPr>
            <a:r>
              <a:rPr b="0" i="0" lang="en-US" sz="13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proprietário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9189720" y="4864608"/>
            <a:ext cx="1892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cada análise compõe a inteligência que só você possui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A INFRAESTRUTURA · O PAPEL DA CASA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7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7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07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868680" y="13716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Você decide. </a:t>
            </a:r>
            <a:r>
              <a:rPr b="0" i="1" lang="en-US" sz="36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A MANDOR </a:t>
            </a:r>
            <a:r>
              <a:rPr i="1" lang="en-US" sz="36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preserva continuidade.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868680" y="22860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A MANDOR </a:t>
            </a:r>
            <a:r>
              <a:rPr lang="en-US" sz="1500">
                <a:solidFill>
                  <a:srgbClr val="7C7A74"/>
                </a:solidFill>
              </a:rPr>
              <a:t>não substitui o racional da instituição ela preserva o contexto e elimina o trabalho que consome a decisão. O sócio </a:t>
            </a:r>
            <a:r>
              <a:rPr lang="en-US" sz="1500">
                <a:solidFill>
                  <a:srgbClr val="7C7A74"/>
                </a:solidFill>
              </a:rPr>
              <a:t>válida</a:t>
            </a:r>
            <a:r>
              <a:rPr lang="en-US" sz="1500">
                <a:solidFill>
                  <a:srgbClr val="7C7A74"/>
                </a:solidFill>
              </a:rPr>
              <a:t>, ajusta e assina. A autoria continua da casa.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868680" y="3611880"/>
            <a:ext cx="2468880" cy="155448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1097280" y="37947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097280" y="4087368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550"/>
              <a:buFont typeface="Georgia"/>
              <a:buNone/>
            </a:pPr>
            <a:r>
              <a:rPr b="0" i="0" lang="en-US" sz="15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Documentos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097280" y="4544568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Balanços, contratos, atas e laudos do deal.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355848" y="3611880"/>
            <a:ext cx="320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657600" y="3611880"/>
            <a:ext cx="2468880" cy="155448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3886200" y="37947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886200" y="4087368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550"/>
              <a:buFont typeface="Georgia"/>
              <a:buNone/>
            </a:pPr>
            <a:r>
              <a:rPr b="0" i="0" lang="en-US" sz="15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MANDOR </a:t>
            </a:r>
            <a:r>
              <a:rPr lang="en-US" sz="155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institui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886200" y="4498843"/>
            <a:ext cx="2057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A4843"/>
                </a:solidFill>
              </a:rPr>
              <a:t>O contexto organiza, reconcilia e estrutura o racional institucional em ~90 min.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144768" y="3611880"/>
            <a:ext cx="320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446520" y="3611880"/>
            <a:ext cx="2468880" cy="155448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6675120" y="37947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675120" y="4087368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550"/>
              <a:buFont typeface="Georgia"/>
              <a:buNone/>
            </a:pPr>
            <a:r>
              <a:rPr b="0" i="0" lang="en-US" sz="15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Dossiê </a:t>
            </a:r>
            <a:r>
              <a:rPr lang="en-US" sz="155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institucional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675120" y="4544568"/>
            <a:ext cx="2057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Análise, tese e material institucional, white-label.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8933688" y="3611880"/>
            <a:ext cx="320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9235440" y="3611880"/>
            <a:ext cx="2468880" cy="1554480"/>
          </a:xfrm>
          <a:prstGeom prst="rect">
            <a:avLst/>
          </a:prstGeom>
          <a:solidFill>
            <a:srgbClr val="F6F5F0"/>
          </a:solidFill>
          <a:ln cap="flat" cmpd="sng" w="15875">
            <a:solidFill>
              <a:srgbClr val="8C6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9464040" y="37947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9464040" y="4087368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550"/>
              <a:buFont typeface="Georgia"/>
              <a:buNone/>
            </a:pPr>
            <a:r>
              <a:rPr b="0" i="0" lang="en-US" sz="15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Sócio </a:t>
            </a:r>
            <a:r>
              <a:rPr lang="en-US" sz="155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válida</a:t>
            </a:r>
            <a:r>
              <a:rPr b="0" i="0" lang="en-US" sz="15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 e assina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9464040" y="4544568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A4843"/>
                </a:solidFill>
              </a:rPr>
              <a:t>O racional sênior aplicado onde a decisão acontece.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868680" y="553212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500"/>
              <a:buFont typeface="Georgia"/>
              <a:buNone/>
            </a:pPr>
            <a:r>
              <a:rPr i="1" lang="en-US" sz="15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Toda análise permanece versionada e auditável  a instituição sabe o que entrou, o que foi</a:t>
            </a:r>
            <a:endParaRPr i="1" sz="1500">
              <a:solidFill>
                <a:srgbClr val="211F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500"/>
              <a:buFont typeface="Georgia"/>
              <a:buNone/>
            </a:pPr>
            <a:r>
              <a:rPr i="1" lang="en-US" sz="15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interpretado e o que foi ajustado.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A INFRAESTRUTURA · ARQUITETURA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8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8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08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868680" y="1156713"/>
            <a:ext cx="10607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900"/>
              <a:buFont typeface="Georgia"/>
              <a:buNone/>
            </a:pPr>
            <a:r>
              <a:rPr b="0" i="0" lang="en-US" sz="3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Não é uma IA generalista. </a:t>
            </a:r>
            <a:r>
              <a:rPr i="1" lang="en-US" sz="32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É infraestrutura de</a:t>
            </a:r>
            <a:endParaRPr i="1" sz="3200">
              <a:solidFill>
                <a:srgbClr val="8C6F4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900"/>
              <a:buFont typeface="Georgia"/>
              <a:buNone/>
            </a:pPr>
            <a:r>
              <a:rPr i="1" lang="en-US" sz="32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convergência institucional.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868680" y="246888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1033272" y="259689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033272" y="287121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Estratégia &amp; DRS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033272" y="354787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ORQUESTRAÇÃO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2980944" y="246888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3145536" y="259689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145536" y="287121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Viabilidade de Mercado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145536" y="354787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MERCADO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093208" y="246888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5257800" y="259689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257800" y="287121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Tese &amp; Valuation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257800" y="354787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M&amp;A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7205472" y="246888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7370064" y="259689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7370064" y="287121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Diagnóstico Financeiro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7370064" y="354787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FINANÇAS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9317736" y="246888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9482328" y="259689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9482328" y="287121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Análise Jurídica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9482328" y="354787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JURÍDICO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868680" y="402336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1033272" y="415137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1033272" y="442569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Crédito Estruturado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033272" y="510235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CRÉDITO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2980944" y="402336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3145536" y="415137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3145536" y="442569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Pipeline de Compradores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3145536" y="510235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ORIGINAÇÃO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093208" y="402336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5257800" y="415137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257800" y="442569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Maturidade do Deal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5257800" y="510235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MATURIDADE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7205472" y="402336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15875">
            <a:solidFill>
              <a:srgbClr val="8C6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7370064" y="415137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7370064" y="442569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Consistency Engine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7370064" y="510235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CONSISTÊNCIA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9317736" y="402336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9482328" y="415137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9482328" y="442569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Quality Reviewer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9482328" y="510235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REVISÃO FINAL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868680" y="5532120"/>
            <a:ext cx="10424160" cy="566928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1143000" y="5532120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350"/>
              <a:buFont typeface="Georgia"/>
              <a:buNone/>
            </a:pPr>
            <a:r>
              <a:rPr b="1" i="0" lang="en-US" sz="135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O mecanismo:  </a:t>
            </a:r>
            <a:r>
              <a:rPr lang="en-US" sz="1350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O Consistency Engine cruza os dez módulos, identifica divergências e reconcilia interpretações antes da convergência final. É isso que separa estrutura institucional de automação genérica.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A INFRAESTRUTURA · DE UM DEAL A UM DOSSIÊ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9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9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09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868680" y="1371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400"/>
              <a:buFont typeface="Georgia"/>
              <a:buNone/>
            </a:pPr>
            <a:r>
              <a:rPr b="0" i="0" lang="en-US" sz="36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O que entra. O que </a:t>
            </a:r>
            <a:r>
              <a:rPr lang="en-US" sz="36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permanece</a:t>
            </a:r>
            <a:r>
              <a:rPr b="0" i="0" lang="en-US" sz="36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868680" y="2121413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C7A74"/>
                </a:solidFill>
              </a:rPr>
              <a:t>Um exemplo anonimizado do percurso de uma operação pela </a:t>
            </a:r>
            <a:r>
              <a:rPr b="1" lang="en-US" sz="1500">
                <a:solidFill>
                  <a:srgbClr val="7C7A74"/>
                </a:solidFill>
              </a:rPr>
              <a:t>MANDOR </a:t>
            </a:r>
            <a:r>
              <a:rPr lang="en-US" sz="1500">
                <a:solidFill>
                  <a:srgbClr val="7C7A74"/>
                </a:solidFill>
              </a:rPr>
              <a:t>da documentação bruta</a:t>
            </a:r>
            <a:endParaRPr sz="1500">
              <a:solidFill>
                <a:srgbClr val="7C7A74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C7A74"/>
                </a:solidFill>
              </a:rPr>
              <a:t>ao dossiê institucional.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868680" y="2926080"/>
            <a:ext cx="4297680" cy="288036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1188720" y="318211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188720" y="3611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Data room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188720" y="3849624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138 documentos · 2.400 páginas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188720" y="412394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Balanços e DREs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188720" y="43616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5 exercícios · auditados e gerenciais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188720" y="46360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Contratos e atas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188720" y="487375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SHA, LOI, atas societárias, laudos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188720" y="51480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Setor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188720" y="538581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Healthcare · medicina diagnóstica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5212080" y="2926080"/>
            <a:ext cx="77724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5989320" y="2926080"/>
            <a:ext cx="5303520" cy="2880360"/>
          </a:xfrm>
          <a:prstGeom prst="rect">
            <a:avLst/>
          </a:prstGeom>
          <a:solidFill>
            <a:srgbClr val="F6F5F0"/>
          </a:solidFill>
          <a:ln cap="flat" cmpd="sng" w="15875">
            <a:solidFill>
              <a:srgbClr val="8C6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6309360" y="318211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SAÍDA · EM ~90 MINUTOS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309360" y="358444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500"/>
              <a:buFont typeface="Georgia"/>
              <a:buNone/>
            </a:pPr>
            <a:r>
              <a:rPr b="0" i="0" lang="en-US" sz="1500" u="none" cap="none" strike="noStrike">
                <a:solidFill>
                  <a:srgbClr val="4A4843"/>
                </a:solidFill>
                <a:latin typeface="Georgia"/>
                <a:ea typeface="Georgia"/>
                <a:cs typeface="Georgia"/>
                <a:sym typeface="Georgia"/>
              </a:rPr>
              <a:t>Deal Readiness Score:  </a:t>
            </a:r>
            <a:r>
              <a:rPr b="1" i="0" lang="en-US" sz="15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72 / 100</a:t>
            </a:r>
            <a:r>
              <a:rPr b="0" i="0" lang="en-US" sz="1500" u="none" cap="none" strike="noStrike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   ·   apto com ressalvas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6309360" y="397764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1" i="0" lang="en-US" sz="1100" u="none" cap="none" strike="noStrike">
                <a:solidFill>
                  <a:srgbClr val="211F1A"/>
                </a:solidFill>
                <a:latin typeface="Arial"/>
                <a:ea typeface="Arial"/>
                <a:cs typeface="Arial"/>
                <a:sym typeface="Arial"/>
              </a:rPr>
              <a:t>Risco financeiro:  </a:t>
            </a: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Endividamento concentrado em 2 contratos</a:t>
            </a:r>
            <a:endParaRPr sz="110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sinalizado para renegociação pré-deal.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6309360" y="443484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1" i="0" lang="en-US" sz="1100" u="none" cap="none" strike="noStrike">
                <a:solidFill>
                  <a:srgbClr val="211F1A"/>
                </a:solidFill>
                <a:latin typeface="Arial"/>
                <a:ea typeface="Arial"/>
                <a:cs typeface="Arial"/>
                <a:sym typeface="Arial"/>
              </a:rPr>
              <a:t>Divergência reconciliada:  </a:t>
            </a: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EBITDA gerencial × auditado: gap de</a:t>
            </a:r>
            <a:endParaRPr sz="110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11% identificado e explicado no dossiê.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6309360" y="489204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1" i="0" lang="en-US" sz="1100" u="none" cap="none" strike="noStrike">
                <a:solidFill>
                  <a:srgbClr val="211F1A"/>
                </a:solidFill>
                <a:latin typeface="Arial"/>
                <a:ea typeface="Arial"/>
                <a:cs typeface="Arial"/>
                <a:sym typeface="Arial"/>
              </a:rPr>
              <a:t>Recomendação:  </a:t>
            </a: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Estruturação via CRA; perfil de comprador estratégico mapeado.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6309360" y="534924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1" i="0" lang="en-US" sz="1100" u="none" cap="none" strike="noStrike">
                <a:solidFill>
                  <a:srgbClr val="211F1A"/>
                </a:solidFill>
                <a:latin typeface="Arial"/>
                <a:ea typeface="Arial"/>
                <a:cs typeface="Arial"/>
                <a:sym typeface="Arial"/>
              </a:rPr>
              <a:t>Entregue:  </a:t>
            </a: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Dossiê + blind teaser white-label, prontos para reunião.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868680" y="598932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Exemplo ilustrativo, anonimizado. Cada achado é atribuído, datado e auditável.*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A EVIDÊNCIA · QUANDO </a:t>
            </a:r>
            <a:r>
              <a:rPr b="1" lang="en-US" sz="1150">
                <a:solidFill>
                  <a:srgbClr val="7C7A74"/>
                </a:solidFill>
              </a:rPr>
              <a:t>O RECOMEÇO DESAPARECE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0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0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10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868680" y="1371600"/>
            <a:ext cx="10424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000"/>
              <a:buFont typeface="Georgia"/>
              <a:buNone/>
            </a:pPr>
            <a:r>
              <a:rPr lang="en-US" sz="36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O que levava semanas deixa de exigir</a:t>
            </a:r>
            <a:endParaRPr sz="3600">
              <a:solidFill>
                <a:srgbClr val="211F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000"/>
              <a:buFont typeface="Georgia"/>
              <a:buNone/>
            </a:pPr>
            <a:r>
              <a:rPr lang="en-US" sz="36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reconstrução de contexto. </a:t>
            </a:r>
            <a:endParaRPr b="0" i="0" sz="3600" u="none" cap="none" strike="noStrike">
              <a:solidFill>
                <a:srgbClr val="8C6F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868680" y="3108960"/>
            <a:ext cx="4709160" cy="21031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1234440" y="340156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NO IMPROVISO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234440" y="3749040"/>
            <a:ext cx="4069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600"/>
              <a:buFont typeface="Georgia"/>
              <a:buNone/>
            </a:pPr>
            <a:r>
              <a:rPr b="0" i="0" lang="en-US" sz="46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3–4</a:t>
            </a:r>
            <a:r>
              <a:rPr b="0" i="0" lang="en-US" sz="1800" u="none" cap="none" strike="noStrike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 semanas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1234440" y="4590288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A4843"/>
                </a:solidFill>
              </a:rPr>
              <a:t>O racional é recomposto manualmente a cada operação.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577840" y="3108960"/>
            <a:ext cx="9144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6492240" y="3108960"/>
            <a:ext cx="4709160" cy="2103120"/>
          </a:xfrm>
          <a:prstGeom prst="rect">
            <a:avLst/>
          </a:prstGeom>
          <a:solidFill>
            <a:srgbClr val="F6F5F0"/>
          </a:solidFill>
          <a:ln cap="flat" cmpd="sng" w="15875">
            <a:solidFill>
              <a:srgbClr val="8C6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6858000" y="340156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8C6F45"/>
                </a:solidFill>
              </a:rPr>
              <a:t>ESTRUTURADO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6858000" y="3749040"/>
            <a:ext cx="4069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600"/>
              <a:buFont typeface="Georgia"/>
              <a:buNone/>
            </a:pPr>
            <a:r>
              <a:rPr b="0" i="0" lang="en-US" sz="46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~90</a:t>
            </a:r>
            <a:r>
              <a:rPr b="0" i="0" lang="en-US" sz="1800" u="none" cap="none" strike="noStrike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 minutos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858000" y="4590288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O método permanece. </a:t>
            </a:r>
            <a:r>
              <a:rPr lang="en-US" sz="1250">
                <a:solidFill>
                  <a:srgbClr val="4A4843"/>
                </a:solidFill>
              </a:rPr>
              <a:t>Só o que é novo exige análise nova.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868680" y="55778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500"/>
              <a:buFont typeface="Georgia"/>
              <a:buNone/>
            </a:pPr>
            <a:r>
              <a:rPr b="0" i="1" lang="en-US" sz="15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 velocidade não é a promessa. </a:t>
            </a:r>
            <a:r>
              <a:rPr i="1" lang="en-US" sz="15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É o efeito da continuidade institucional.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232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B0ABA0"/>
                </a:solidFill>
                <a:latin typeface="Arial"/>
                <a:ea typeface="Arial"/>
                <a:cs typeface="Arial"/>
                <a:sym typeface="Arial"/>
              </a:rPr>
              <a:t>WHITE-LABEL · A VIRADA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0ABA0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11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3A38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1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13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868680" y="2103120"/>
            <a:ext cx="10058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3800"/>
              <a:buFont typeface="Georgia"/>
              <a:buNone/>
            </a:pP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A inteligência é nossa engenharia.</a:t>
            </a:r>
            <a:endParaRPr sz="3600">
              <a:solidFill>
                <a:srgbClr val="EDE9E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3800"/>
              <a:buFont typeface="Georgia"/>
              <a:buNone/>
            </a:pPr>
            <a:r>
              <a:rPr b="0" i="1" lang="en-US" sz="36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A autoridade é da sua marca.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868680" y="384048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900"/>
              <a:buFont typeface="Georgia"/>
              <a:buNone/>
            </a:pPr>
            <a:r>
              <a:rPr lang="en-US" sz="15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Quando o cliente abre o relatório, ele vê o nome do seu escritório. Não a </a:t>
            </a:r>
            <a:r>
              <a:rPr b="1" lang="en-US" sz="15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MANDOR</a:t>
            </a:r>
            <a:r>
              <a:rPr lang="en-US" sz="15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1500">
              <a:solidFill>
                <a:srgbClr val="B0ABA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900"/>
              <a:buFont typeface="Georgia"/>
              <a:buNone/>
            </a:pPr>
            <a:r>
              <a:rPr lang="en-US" sz="15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O racional permanece sob identidade institucional própria do dossiê à assinatura.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WHITE-LABEL · VANTAGEM DEFENSÁVEL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12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12"/>
          <p:cNvSpPr/>
          <p:nvPr/>
        </p:nvSpPr>
        <p:spPr>
          <a:xfrm>
            <a:off x="8549640" y="3383280"/>
            <a:ext cx="27432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CEAE3"/>
              </a:buClr>
              <a:buSzPts val="15000"/>
              <a:buFont typeface="Georgia"/>
              <a:buNone/>
            </a:pPr>
            <a:r>
              <a:rPr b="0" i="0" lang="en-US" sz="15000" u="none" cap="none" strike="noStrike">
                <a:solidFill>
                  <a:srgbClr val="ECEAE3"/>
                </a:solidFill>
                <a:latin typeface="Georgia"/>
                <a:ea typeface="Georgia"/>
                <a:cs typeface="Georgia"/>
                <a:sym typeface="Georgia"/>
              </a:rPr>
              <a:t>14 / 20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14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868680" y="1371600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Sua inteligência. Seu padrão. </a:t>
            </a:r>
            <a:r>
              <a:rPr b="0" i="1" lang="en-US" sz="34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Seu acervo.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868680" y="246888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Empresas de tecnologia se diferenciam por dados e modelos. </a:t>
            </a:r>
            <a:r>
              <a:rPr lang="en-US" sz="1450">
                <a:solidFill>
                  <a:srgbClr val="4A4843"/>
                </a:solidFill>
              </a:rPr>
              <a:t>Instituições financeiras, historicamente, nunca preservaram racional como infraestrutura operacional. A </a:t>
            </a:r>
            <a:r>
              <a:rPr b="1" i="1" lang="en-US" sz="1450">
                <a:solidFill>
                  <a:srgbClr val="4A4843"/>
                </a:solidFill>
              </a:rPr>
              <a:t>MANDOR</a:t>
            </a:r>
            <a:r>
              <a:rPr lang="en-US" sz="1450">
                <a:solidFill>
                  <a:srgbClr val="4A4843"/>
                </a:solidFill>
              </a:rPr>
              <a:t> muda</a:t>
            </a:r>
            <a:endParaRPr sz="145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A4843"/>
                </a:solidFill>
              </a:rPr>
              <a:t>essa lógica.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868680" y="3886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→  </a:t>
            </a:r>
            <a:r>
              <a:rPr lang="en-US" sz="145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Cada análise fortalece o racional proprietário da instituição.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868680" y="4453128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→  </a:t>
            </a:r>
            <a:r>
              <a:rPr lang="en-US" sz="145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Cada ajuste editorial compõe padrão institucional próprio.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868680" y="5020056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→  </a:t>
            </a:r>
            <a:r>
              <a:rPr lang="en-US" sz="145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Cada decisão registrada amplia continuidade analítica.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868680" y="5586984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→  </a:t>
            </a:r>
            <a:r>
              <a:rPr lang="en-US" sz="145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Cada operação fortalece inteligência reaplicável.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6903720" y="2468880"/>
            <a:ext cx="4389120" cy="3657600"/>
          </a:xfrm>
          <a:prstGeom prst="rect">
            <a:avLst/>
          </a:prstGeom>
          <a:solidFill>
            <a:srgbClr val="F6F5F0"/>
          </a:solidFill>
          <a:ln cap="flat" cmpd="sng" w="15875">
            <a:solidFill>
              <a:srgbClr val="8C6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7360920" y="27432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VANTAGEM DEFENSÁVEL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7360920" y="3200400"/>
            <a:ext cx="3474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Pela primeira vez, um escritório de deals pode dizer que tem o seu próprio modelo de inteligência institucional.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7360920" y="51206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4A4843"/>
                </a:solidFill>
                <a:latin typeface="Georgia"/>
                <a:ea typeface="Georgia"/>
                <a:cs typeface="Georgia"/>
                <a:sym typeface="Georgia"/>
              </a:rPr>
              <a:t>Não terceirizado. Não alugado.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Proprietário calibrado para o seu jeito de operar.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INTELIGÊNCIA · SEGURANÇA INSTITUCIONAL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13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3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15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868680" y="137160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Engenheirada para quem opera deals confidenciais.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868680" y="2697480"/>
            <a:ext cx="4983480" cy="128016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 rot="2700000">
            <a:off x="1188720" y="2990088"/>
            <a:ext cx="256032" cy="256032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1737360" y="292608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700"/>
              <a:buFont typeface="Georgia"/>
              <a:buNone/>
            </a:pPr>
            <a:r>
              <a:rPr b="0" i="0" lang="en-US" sz="17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Criptografia institucional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1737360" y="3355848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TLS 1.3 em trânsito, AES-256 em repouso, chaves segregadas por escritório.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6309360" y="2697480"/>
            <a:ext cx="4983480" cy="128016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 rot="2700000">
            <a:off x="6629400" y="2990088"/>
            <a:ext cx="256032" cy="256032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7178040" y="292608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700"/>
              <a:buFont typeface="Georgia"/>
              <a:buNone/>
            </a:pPr>
            <a:r>
              <a:rPr b="0" i="0" lang="en-US" sz="17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Ambientes isolados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7178040" y="3355848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Cada escritório opera em tenant dedicado. Nenhum dado cruza entre clientes.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868680" y="4251960"/>
            <a:ext cx="4983480" cy="128016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 rot="2700000">
            <a:off x="1188720" y="4544568"/>
            <a:ext cx="256032" cy="256032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1737360" y="448056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700"/>
              <a:buFont typeface="Georgia"/>
              <a:buNone/>
            </a:pPr>
            <a:r>
              <a:rPr b="0" i="0" lang="en-US" sz="17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Aderência LGPD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1737360" y="4910328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Atuamos como operador, com DPA disponível e tratamento técnico de finance papers.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6309360" y="4251960"/>
            <a:ext cx="4983480" cy="128016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 rot="2700000">
            <a:off x="6629400" y="4544568"/>
            <a:ext cx="256032" cy="256032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7178040" y="448056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700"/>
              <a:buFont typeface="Georgia"/>
              <a:buNone/>
            </a:pPr>
            <a:r>
              <a:rPr b="0" i="0" lang="en-US" sz="17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Auditoria de cada análise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7178040" y="4910328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Histórico completo, versionamento de outputs e rastreabilidade de cada execução.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868680" y="57150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TLS 1.3 · AES-256 · LGPD-Ready · DPA disponível · Ambientes isolados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4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ECONOMIA · O CUSTO DE NÃO MUDAR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14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14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16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867500" y="1095125"/>
            <a:ext cx="106917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400"/>
              <a:buFont typeface="Georgia"/>
              <a:buNone/>
            </a:pPr>
            <a:r>
              <a:rPr lang="en-US" sz="3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O custo invisível de operar sem</a:t>
            </a:r>
            <a:endParaRPr sz="3200">
              <a:solidFill>
                <a:srgbClr val="211F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400"/>
              <a:buFont typeface="Georgia"/>
              <a:buNone/>
            </a:pPr>
            <a:r>
              <a:rPr lang="en-US" sz="32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continuidade institucional.</a:t>
            </a:r>
            <a:r>
              <a:rPr lang="en-US" sz="3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868675" y="2350050"/>
            <a:ext cx="1056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lang="en-US" sz="1250">
                <a:solidFill>
                  <a:srgbClr val="7C7A74"/>
                </a:solidFill>
              </a:rPr>
              <a:t>Três estruturas de custo para uma operação típica. A comparação real depende do ticket,</a:t>
            </a:r>
            <a:endParaRPr sz="1250">
              <a:solidFill>
                <a:srgbClr val="7C7A74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lang="en-US" sz="1250">
                <a:solidFill>
                  <a:srgbClr val="7C7A74"/>
                </a:solidFill>
              </a:rPr>
              <a:t>da complexidade e da capacidade operacional da sua instituição.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868680" y="3108955"/>
            <a:ext cx="3246000" cy="26061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1161288" y="3337555"/>
            <a:ext cx="278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Time interno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1161288" y="3657595"/>
            <a:ext cx="278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≈ R$ 80 mil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1161288" y="4187947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/ mês · folha + encargos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1161300" y="4572000"/>
            <a:ext cx="28425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·  </a:t>
            </a:r>
            <a:r>
              <a:rPr b="0" i="0" lang="en-US" sz="11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Controle direto da operação</a:t>
            </a:r>
            <a:endParaRPr b="0" i="0" sz="1150" u="none" cap="none" strike="noStrike">
              <a:solidFill>
                <a:srgbClr val="4A48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6F45"/>
                </a:solidFill>
              </a:rPr>
              <a:t>·  </a:t>
            </a:r>
            <a:r>
              <a:rPr lang="en-US" sz="1150">
                <a:solidFill>
                  <a:srgbClr val="4A4843"/>
                </a:solidFill>
              </a:rPr>
              <a:t>Escala linear: mais volume, mais cabeça</a:t>
            </a:r>
            <a:endParaRPr sz="115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6F45"/>
                </a:solidFill>
              </a:rPr>
              <a:t>·  </a:t>
            </a:r>
            <a:r>
              <a:rPr lang="en-US" sz="1150">
                <a:solidFill>
                  <a:srgbClr val="4A4843"/>
                </a:solidFill>
              </a:rPr>
              <a:t>Racional disperso entre equipes e ciclos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t/>
            </a:r>
            <a:endParaRPr sz="1150">
              <a:solidFill>
                <a:srgbClr val="4A4843"/>
              </a:solidFill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4526280" y="3108955"/>
            <a:ext cx="3246000" cy="26061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4818888" y="3337555"/>
            <a:ext cx="278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Terceirização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4818888" y="3657595"/>
            <a:ext cx="278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1% – 2%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4818888" y="4187947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success fee por mandato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4818900" y="4572005"/>
            <a:ext cx="2743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·  </a:t>
            </a:r>
            <a:r>
              <a:rPr lang="en-US" sz="1150">
                <a:solidFill>
                  <a:srgbClr val="4A4843"/>
                </a:solidFill>
              </a:rPr>
              <a:t>Custo variável por operação </a:t>
            </a:r>
            <a:endParaRPr b="0" i="0" sz="1150" u="none" cap="none" strike="noStrike">
              <a:solidFill>
                <a:srgbClr val="4A48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6F45"/>
                </a:solidFill>
              </a:rPr>
              <a:t>·  </a:t>
            </a:r>
            <a:r>
              <a:rPr lang="en-US" sz="1150">
                <a:solidFill>
                  <a:srgbClr val="4A4843"/>
                </a:solidFill>
              </a:rPr>
              <a:t>Sem continuidade analítica institucional </a:t>
            </a:r>
            <a:endParaRPr sz="115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6F45"/>
                </a:solidFill>
              </a:rPr>
              <a:t>·  </a:t>
            </a:r>
            <a:r>
              <a:rPr lang="en-US" sz="1150">
                <a:solidFill>
                  <a:srgbClr val="4A4843"/>
                </a:solidFill>
              </a:rPr>
              <a:t>Sem acervo proprietário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t/>
            </a:r>
            <a:endParaRPr sz="115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t/>
            </a:r>
            <a:endParaRPr sz="1150">
              <a:solidFill>
                <a:srgbClr val="4A4843"/>
              </a:solidFill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8183880" y="3108955"/>
            <a:ext cx="3246000" cy="2606100"/>
          </a:xfrm>
          <a:prstGeom prst="rect">
            <a:avLst/>
          </a:prstGeom>
          <a:solidFill>
            <a:srgbClr val="F6F5F0"/>
          </a:solidFill>
          <a:ln cap="flat" cmpd="sng" w="15875">
            <a:solidFill>
              <a:srgbClr val="8C6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8476488" y="3337555"/>
            <a:ext cx="278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8476488" y="3657595"/>
            <a:ext cx="278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R$ 25k + 18k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8476488" y="4187947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setup + mensalidade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8476500" y="4572007"/>
            <a:ext cx="27432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·  </a:t>
            </a:r>
            <a:r>
              <a:rPr lang="en-US" sz="1150">
                <a:solidFill>
                  <a:srgbClr val="4A4843"/>
                </a:solidFill>
              </a:rPr>
              <a:t>Continuidade analítica institucional </a:t>
            </a:r>
            <a:endParaRPr b="0" i="0" sz="1150" u="none" cap="none" strike="noStrike">
              <a:solidFill>
                <a:srgbClr val="4A48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6F45"/>
                </a:solidFill>
              </a:rPr>
              <a:t>·  </a:t>
            </a:r>
            <a:r>
              <a:rPr lang="en-US" sz="1150">
                <a:solidFill>
                  <a:srgbClr val="4A4843"/>
                </a:solidFill>
              </a:rPr>
              <a:t>Padrão institucional em 100% das entregas</a:t>
            </a:r>
            <a:endParaRPr sz="115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6F45"/>
                </a:solidFill>
              </a:rPr>
              <a:t>·  </a:t>
            </a:r>
            <a:r>
              <a:rPr lang="en-US" sz="1150">
                <a:solidFill>
                  <a:srgbClr val="4A4843"/>
                </a:solidFill>
              </a:rPr>
              <a:t>Inteligência acumulativa entre operações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t/>
            </a:r>
            <a:endParaRPr sz="115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t/>
            </a:r>
            <a:endParaRPr sz="1150">
              <a:solidFill>
                <a:srgbClr val="4A4843"/>
              </a:solidFill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868680" y="5943595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50"/>
              <a:buFont typeface="Georgia"/>
              <a:buNone/>
            </a:pPr>
            <a:r>
              <a:rPr b="0" i="1" lang="en-US" sz="14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 folha tem teto. O acervo compõe. A diferença real aparece no primeiro mandato perdido por demora.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PROPOSTA · TRÊS CAMINHOS PARA ENTRAR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15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15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17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868680" y="1371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Três caminhos para operar continuidade institucional.</a:t>
            </a:r>
            <a:endParaRPr sz="3200">
              <a:solidFill>
                <a:srgbClr val="211F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rgbClr val="211F1A"/>
              </a:buClr>
              <a:buSzPts val="3400"/>
              <a:buFont typeface="Georgia"/>
              <a:buNone/>
            </a:pPr>
            <a:r>
              <a:t/>
            </a:r>
            <a:endParaRPr sz="3400">
              <a:solidFill>
                <a:srgbClr val="211F1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868680" y="2121408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7C7A74"/>
                </a:solidFill>
              </a:rPr>
              <a:t>Todos os planos com identidade institucional própria e ambientes isolados.</a:t>
            </a:r>
            <a:endParaRPr sz="1500">
              <a:solidFill>
                <a:srgbClr val="7C7A74"/>
              </a:solidFill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868675" y="2989373"/>
            <a:ext cx="3246000" cy="25080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1161283" y="3176542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PONTUAL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161283" y="3401146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avulso · por análise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1161283" y="3663183"/>
            <a:ext cx="2788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R$ 3.500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1161283" y="4052496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/ análise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1161283" y="4374427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Pipeline </a:t>
            </a:r>
            <a:r>
              <a:rPr lang="en-US" sz="1100">
                <a:solidFill>
                  <a:srgbClr val="4A4843"/>
                </a:solidFill>
              </a:rPr>
              <a:t>completo de interpretação institucional </a:t>
            </a:r>
            <a:endParaRPr b="0" i="0" sz="1100" u="none" cap="none" strike="noStrike">
              <a:solidFill>
                <a:srgbClr val="4A48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Dossiê institucional white-label</a:t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Teaser e pitchbook editáveis</a:t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Entrega no mesmo dia útil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4526276" y="2989373"/>
            <a:ext cx="3246000" cy="2508000"/>
          </a:xfrm>
          <a:prstGeom prst="rect">
            <a:avLst/>
          </a:prstGeom>
          <a:solidFill>
            <a:srgbClr val="F6F5F0"/>
          </a:solidFill>
          <a:ln cap="flat" cmpd="sng" w="15875">
            <a:solidFill>
              <a:srgbClr val="8C6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4526276" y="2704875"/>
            <a:ext cx="3246000" cy="284400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4526276" y="2704875"/>
            <a:ext cx="3246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ESCOLHA DA CASA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4818884" y="3176542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INSTITUCIONAL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4818884" y="3401146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recomendado · mensal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4818884" y="3663183"/>
            <a:ext cx="2788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R$ 25k + 18k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4818884" y="4052496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setup + mensalidade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4818896" y="4374436"/>
            <a:ext cx="27432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Volume institucional de análises</a:t>
            </a:r>
            <a:endParaRPr b="0" i="0" sz="1100" u="none" cap="none" strike="noStrike">
              <a:solidFill>
                <a:srgbClr val="4A48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Match inteligente ativo ↔ comprador</a:t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Identidade institucional completa </a:t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Acervo proprietário da instituição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8183876" y="2989373"/>
            <a:ext cx="3246000" cy="25080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8476484" y="3176542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CORPORATIVO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8476484" y="3401146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enterprise · sob medida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8476484" y="3663183"/>
            <a:ext cx="2788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Sob consulta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8476484" y="4052496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volume + integrações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8476496" y="4374436"/>
            <a:ext cx="27432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Volume e SLA personalizados </a:t>
            </a:r>
            <a:endParaRPr b="0" i="0" sz="1100" u="none" cap="none" strike="noStrike">
              <a:solidFill>
                <a:srgbClr val="4A48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Integração com sistemas internos</a:t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Onboarding e gestor dedicados</a:t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Governança institucional avançada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868680" y="5680167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i="1" lang="en-US" sz="135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O setup e a mensalidade do plano institucional representam menos do que um único mandato perdido por demora operacional.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6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IMPLANTAÇÃO · SETE DIAS ATÉ O GO-LIVE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Google Shape;427;p16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16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18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868680" y="1371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Você opera em sete dias úteis.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868680" y="2103125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C7A74"/>
                </a:solidFill>
              </a:rPr>
              <a:t>Onboarding institucional sem dependência técnica da equipe interna.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868680" y="2926080"/>
            <a:ext cx="1984248" cy="18288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1069848" y="3127248"/>
            <a:ext cx="1618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900"/>
              <a:buFont typeface="Georgia"/>
              <a:buNone/>
            </a:pPr>
            <a:r>
              <a:rPr b="0" i="0" lang="en-US" sz="19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D+1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1069848" y="3584448"/>
            <a:ext cx="16184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Assinatura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1069848" y="4114800"/>
            <a:ext cx="1618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Contrato, NDA mútuo e onboarding agendado.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3017520" y="2926080"/>
            <a:ext cx="1984248" cy="18288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6"/>
          <p:cNvSpPr/>
          <p:nvPr/>
        </p:nvSpPr>
        <p:spPr>
          <a:xfrm>
            <a:off x="3218688" y="3127248"/>
            <a:ext cx="1618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900"/>
              <a:buFont typeface="Georgia"/>
              <a:buNone/>
            </a:pPr>
            <a:r>
              <a:rPr b="0" i="0" lang="en-US" sz="19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D+2–3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3218688" y="3584448"/>
            <a:ext cx="16184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Brand setup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3218688" y="4114800"/>
            <a:ext cx="1618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Logotipo, paleta e identidade dos outputs.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5166360" y="2926080"/>
            <a:ext cx="1984248" cy="18288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5367528" y="3127248"/>
            <a:ext cx="1618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900"/>
              <a:buFont typeface="Georgia"/>
              <a:buNone/>
            </a:pPr>
            <a:r>
              <a:rPr b="0" i="0" lang="en-US" sz="19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D+4–5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5367528" y="3584448"/>
            <a:ext cx="16184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Calibração de fluxo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5367528" y="4114800"/>
            <a:ext cx="1618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Encaixe nos comitês e governança internos.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7315200" y="2926080"/>
            <a:ext cx="1984248" cy="1828800"/>
          </a:xfrm>
          <a:prstGeom prst="rect">
            <a:avLst/>
          </a:prstGeom>
          <a:solidFill>
            <a:srgbClr val="F6F5F0"/>
          </a:solidFill>
          <a:ln cap="flat" cmpd="sng" w="15875">
            <a:solidFill>
              <a:srgbClr val="8C6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6"/>
          <p:cNvSpPr/>
          <p:nvPr/>
        </p:nvSpPr>
        <p:spPr>
          <a:xfrm>
            <a:off x="7516368" y="3127248"/>
            <a:ext cx="1618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900"/>
              <a:buFont typeface="Georgia"/>
              <a:buNone/>
            </a:pPr>
            <a:r>
              <a:rPr b="0" i="0" lang="en-US" sz="19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D+6–7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7516368" y="3584448"/>
            <a:ext cx="16184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Treinamento e go-live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7516368" y="4114800"/>
            <a:ext cx="1618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Time treinado, primeira análise rodando.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9464040" y="2926080"/>
            <a:ext cx="1984248" cy="18288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9665208" y="3127248"/>
            <a:ext cx="1618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900"/>
              <a:buFont typeface="Georgia"/>
              <a:buNone/>
            </a:pPr>
            <a:r>
              <a:rPr b="0" i="0" lang="en-US" sz="19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D+30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9665208" y="3584448"/>
            <a:ext cx="16184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Calibração estratégica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9665208" y="4114800"/>
            <a:ext cx="1618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A4843"/>
                </a:solidFill>
              </a:rPr>
              <a:t>Refinamento contínuo e expansão do acervo institucional.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868680" y="525780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O que precisamos da sua instituição:</a:t>
            </a: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100">
                <a:solidFill>
                  <a:srgbClr val="211F1A"/>
                </a:solidFill>
                <a:latin typeface="Courier New"/>
                <a:ea typeface="Courier New"/>
                <a:cs typeface="Courier New"/>
                <a:sym typeface="Courier New"/>
              </a:rPr>
              <a:t>logotipo em vetor · identidade visual · estrutura de comitês ·</a:t>
            </a:r>
            <a:endParaRPr sz="1100">
              <a:solidFill>
                <a:srgbClr val="211F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11F1A"/>
                </a:solidFill>
                <a:latin typeface="Courier New"/>
                <a:ea typeface="Courier New"/>
                <a:cs typeface="Courier New"/>
                <a:sym typeface="Courier New"/>
              </a:rPr>
              <a:t>um deal real para piloto.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2320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7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B0ABA0"/>
                </a:solidFill>
                <a:latin typeface="Arial"/>
                <a:ea typeface="Arial"/>
                <a:cs typeface="Arial"/>
                <a:sym typeface="Arial"/>
              </a:rPr>
              <a:t>O QUE VOCÊ CONSTRÓI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0ABA0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0" name="Google Shape;460;p17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3A38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1" name="Google Shape;461;p17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19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868680" y="1737360"/>
            <a:ext cx="98755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Você não está comprando análises rápidas.</a:t>
            </a:r>
            <a:endParaRPr b="0" i="0" sz="3600" u="none" cap="none" strike="noStrike">
              <a:solidFill>
                <a:srgbClr val="EDE9E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3600"/>
              <a:buFont typeface="Georgia"/>
              <a:buNone/>
            </a:pPr>
            <a:r>
              <a:rPr b="0" i="1" lang="en-US" sz="36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Está construindo </a:t>
            </a:r>
            <a:r>
              <a:rPr i="1" lang="en-US" sz="36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continuidade institucional.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868680" y="4175760"/>
            <a:ext cx="9327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900"/>
              <a:buFont typeface="Georgia"/>
              <a:buNone/>
            </a:pPr>
            <a:r>
              <a:rPr lang="en-US" sz="18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Cada operação processada pela </a:t>
            </a:r>
            <a:r>
              <a:rPr b="1" i="1" lang="en-US" sz="18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MANDOR </a:t>
            </a:r>
            <a:r>
              <a:rPr lang="en-US" sz="18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preserva mais racional da instituição.</a:t>
            </a:r>
            <a:endParaRPr sz="1800">
              <a:solidFill>
                <a:srgbClr val="B0ABA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900"/>
              <a:buFont typeface="Georgia"/>
              <a:buNone/>
            </a:pPr>
            <a:r>
              <a:rPr lang="en-US" sz="18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A velocidade resolve o presente. O acervo institucional fortalece os próximos ciclos.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868680" y="507492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As instituições que vão liderar a próxima década não operarão apenas com mais</a:t>
            </a:r>
            <a:endParaRPr i="1" sz="1800">
              <a:solidFill>
                <a:srgbClr val="8C6F4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velocidade. Operarão com inteligência que permanece.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2320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8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B0ABA0"/>
                </a:solidFill>
                <a:latin typeface="Arial"/>
                <a:ea typeface="Arial"/>
                <a:cs typeface="Arial"/>
                <a:sym typeface="Arial"/>
              </a:rPr>
              <a:t>FECHAMENTO · O PILOTO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0ABA0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3" name="Google Shape;473;p18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3A38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18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20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868680" y="1600200"/>
            <a:ext cx="9875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3400"/>
              <a:buFont typeface="Georgia"/>
              <a:buNone/>
            </a:pP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Em finanças institucionais, confiança</a:t>
            </a:r>
            <a:endParaRPr sz="3600">
              <a:solidFill>
                <a:srgbClr val="EDE9E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3400"/>
              <a:buFont typeface="Georgia"/>
              <a:buNone/>
            </a:pP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não é </a:t>
            </a:r>
            <a:r>
              <a:rPr lang="en-US" sz="3600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discurso</a:t>
            </a: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. </a:t>
            </a:r>
            <a:r>
              <a:rPr i="1" lang="en-US" sz="36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É infraestrutura.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868680" y="3660355"/>
            <a:ext cx="9327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Você não está apenas acelerando análises. Cada operação processada fortalece o racional proprietário da sua instituição transformando contexto em continuidade institucional.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868680" y="4754880"/>
            <a:ext cx="9326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1700"/>
              <a:buFont typeface="Georgia"/>
              <a:buNone/>
            </a:pPr>
            <a:r>
              <a:rPr i="1" lang="en-US" sz="1700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Veja o dossiê, os achados e a estrutura funcionando antes de decidir qualquer plano.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868680" y="56235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→  Agendar reunião de diagnóstico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868680" y="6035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0ABA0"/>
                </a:solidFill>
                <a:latin typeface="Courier New"/>
                <a:ea typeface="Courier New"/>
                <a:cs typeface="Courier New"/>
                <a:sym typeface="Courier New"/>
              </a:rPr>
              <a:t>mandor.com.br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232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B0ABA0"/>
                </a:solidFill>
                <a:latin typeface="Arial"/>
                <a:ea typeface="Arial"/>
                <a:cs typeface="Arial"/>
                <a:sym typeface="Arial"/>
              </a:rPr>
              <a:t>MÓDULO · ADEQUAÇÃO À REFORMA TRIBUTÁRIA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0ABA0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5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3A38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5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11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68680" y="1538697"/>
            <a:ext cx="9875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4200"/>
              <a:buFont typeface="Georgia"/>
              <a:buNone/>
            </a:pP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A reforma muda o mapa.</a:t>
            </a:r>
            <a:endParaRPr sz="3600">
              <a:solidFill>
                <a:srgbClr val="EDE9E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4200"/>
              <a:buFont typeface="Georgia"/>
              <a:buNone/>
            </a:pPr>
            <a:r>
              <a:rPr i="1" lang="en-US" sz="36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O método precede a regra.</a:t>
            </a:r>
            <a:r>
              <a:rPr i="1" lang="en-US" sz="32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868680" y="3281125"/>
            <a:ext cx="9327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900"/>
              <a:buFont typeface="Georgia"/>
              <a:buNone/>
            </a:pPr>
            <a:r>
              <a:rPr b="0" i="0" lang="en-US" sz="1800" u="none" cap="none" strike="noStrike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A LC 214/2025 introduz IBS, CBS e Imposto Seletivo. Empresas não-adequadas travam M&amp;A, entrada de investidor e crédito estruturado. </a:t>
            </a:r>
            <a:r>
              <a:rPr lang="en-US" sz="18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O risco fiscal deixa de ser apenas tributo e vira variável de captação.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868680" y="489204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2200"/>
              <a:buFont typeface="Georgia"/>
              <a:buNone/>
            </a:pPr>
            <a:r>
              <a:rPr b="0" i="1" lang="en-US" sz="18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O auditor </a:t>
            </a:r>
            <a:r>
              <a:rPr b="1" i="1" lang="en-US" sz="18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Ferrante</a:t>
            </a:r>
            <a:r>
              <a:rPr b="0" i="1" lang="en-US" sz="18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i="1" lang="en-US" sz="18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 opera ancorado na LC 214/2025 e na base de regras institucional. Em cada análise da casa, produz score de conformidade, mapa de riscos por severidade e</a:t>
            </a:r>
            <a:endParaRPr i="1" sz="1800">
              <a:solidFill>
                <a:srgbClr val="8C6F4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2200"/>
              <a:buFont typeface="Georgia"/>
              <a:buNone/>
            </a:pPr>
            <a:r>
              <a:rPr i="1" lang="en-US" sz="18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 recomendações concretas, no mesmo dossiê auditável da operação.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232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B0ABA0"/>
                </a:solidFill>
                <a:latin typeface="Arial"/>
                <a:ea typeface="Arial"/>
                <a:cs typeface="Arial"/>
                <a:sym typeface="Arial"/>
              </a:rPr>
              <a:t>MÓDULO · INVEST MATCH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0ABA0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5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3A38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5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12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68680" y="1538697"/>
            <a:ext cx="9875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4200"/>
              <a:buFont typeface="Georgia"/>
              <a:buNone/>
            </a:pP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Cada deal lê o universo</a:t>
            </a:r>
            <a:endParaRPr sz="3600">
              <a:solidFill>
                <a:srgbClr val="EDE9E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4200"/>
              <a:buFont typeface="Georgia"/>
              <a:buNone/>
            </a:pPr>
            <a:r>
              <a:rPr i="1" lang="en-US" sz="36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certo de investidores.</a:t>
            </a:r>
            <a:r>
              <a:rPr i="1" lang="en-US" sz="32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868680" y="3281125"/>
            <a:ext cx="9327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900"/>
              <a:buFont typeface="Georgia"/>
              <a:buNone/>
            </a:pPr>
            <a:r>
              <a:rPr b="0" i="0" lang="en-US" sz="1800" u="none" cap="none" strike="noStrike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Originar é a parte fácil. O que separa um deal aprovado de um rejeitado é o encaixe entre o ativo e quem tem mandato para alocar. </a:t>
            </a:r>
            <a:r>
              <a:rPr lang="en-US" sz="18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Motor em cinco camadas: filtros de tese, score estruturado, proximidade semântica, avaliação institucional do encaixe e composição ponderada.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868680" y="489204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2200"/>
              <a:buFont typeface="Georgia"/>
              <a:buNone/>
            </a:pPr>
            <a:r>
              <a:rPr b="0" i="1" lang="en-US" sz="18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O </a:t>
            </a:r>
            <a:r>
              <a:rPr b="1" i="1" lang="en-US" sz="18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Invest Match</a:t>
            </a:r>
            <a:r>
              <a:rPr b="0" i="1" lang="en-US" sz="18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i="1" lang="en-US" sz="18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 codifica esse cruzamento. Toda análise vira tese viva, toda tese encontra seu universo,</a:t>
            </a:r>
            <a:endParaRPr i="1" sz="1800">
              <a:solidFill>
                <a:srgbClr val="8C6F4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2200"/>
              <a:buFont typeface="Georgia"/>
              <a:buNone/>
            </a:pPr>
            <a:r>
              <a:rPr i="1" lang="en-US" sz="18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 sem perder atribuição nem lineage do match.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2026-05-28T17:49:12Z</dcterms:created>
  <dc:creator>MANDOR</dc:creator>
</cp:coreProperties>
</file>